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70" r:id="rId6"/>
    <p:sldId id="271" r:id="rId7"/>
    <p:sldId id="266" r:id="rId8"/>
    <p:sldId id="267" r:id="rId9"/>
    <p:sldId id="259" r:id="rId10"/>
    <p:sldId id="263" r:id="rId11"/>
    <p:sldId id="261" r:id="rId12"/>
    <p:sldId id="268" r:id="rId13"/>
    <p:sldId id="272" r:id="rId14"/>
    <p:sldId id="274" r:id="rId15"/>
    <p:sldId id="264" r:id="rId16"/>
  </p:sldIdLst>
  <p:sldSz cx="18288000" cy="10287000"/>
  <p:notesSz cx="6858000" cy="9144000"/>
  <p:embeddedFontLst>
    <p:embeddedFont>
      <p:font typeface="AppleSDGothicNeoEB00" panose="02000503000000000000" pitchFamily="2" charset="-128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retendard SemiBold" panose="02000703000000020004" pitchFamily="50" charset="-127"/>
      <p:bold r:id="rId23"/>
    </p:embeddedFont>
    <p:embeddedFont>
      <p:font typeface="AppleSDGothicNeoSB00" panose="02000503000000000000" pitchFamily="2" charset="-128"/>
      <p:regular r:id="rId24"/>
    </p:embeddedFont>
    <p:embeddedFont>
      <p:font typeface="AppleSDGothicNeoB00" panose="02000503000000000000" pitchFamily="2" charset="-128"/>
      <p:regular r:id="rId25"/>
    </p:embeddedFont>
    <p:embeddedFont>
      <p:font typeface="AppleSDGothicNeoL00" panose="02000503000000000000" pitchFamily="2" charset="-128"/>
      <p:regular r:id="rId26"/>
    </p:embeddedFont>
    <p:embeddedFont>
      <p:font typeface="Pretendard Medium" panose="02000603000000020004" pitchFamily="50" charset="-127"/>
      <p:bold r:id="rId27"/>
    </p:embeddedFont>
    <p:embeddedFont>
      <p:font typeface="AppleSDGothicNeoH00" panose="02000503000000000000" pitchFamily="2" charset="-128"/>
      <p:regular r:id="rId28"/>
    </p:embeddedFont>
    <p:embeddedFont>
      <p:font typeface="Nasalization" panose="020B0604020202020204" pitchFamily="34" charset="0"/>
      <p:regular r:id="rId29"/>
    </p:embeddedFont>
    <p:embeddedFont>
      <p:font typeface="AppleSDGothicNeoM00" panose="02000503000000000000" pitchFamily="2" charset="-128"/>
      <p:regular r:id="rId30"/>
    </p:embeddedFont>
    <p:embeddedFont>
      <p:font typeface="Pretendard Light" panose="02000403000000020004" pitchFamily="50" charset="-127"/>
      <p:regular r:id="rId31"/>
    </p:embeddedFont>
    <p:embeddedFont>
      <p:font typeface="맑은 고딕" panose="020B0503020000020004" pitchFamily="34" charset="-127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47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14EC8-1CF6-4A8C-8733-42051AA25F01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51A98-8461-4291-8B16-EBA1087EE3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42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51A98-8461-4291-8B16-EBA1087EE3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1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51A98-8461-4291-8B16-EBA1087EE3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774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351A98-8461-4291-8B16-EBA1087EE3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39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7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7.png"/><Relationship Id="rId12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8.png"/><Relationship Id="rId7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21" Type="http://schemas.openxmlformats.org/officeDocument/2006/relationships/image" Target="../media/image5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6070600"/>
            <a:ext cx="16929100" cy="3098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13870" y="2705100"/>
            <a:ext cx="6083300" cy="198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300" dirty="0">
                <a:solidFill>
                  <a:srgbClr val="FFFFFF"/>
                </a:solidFill>
                <a:latin typeface="Nasalization" panose="020B0604020202020204" pitchFamily="34" charset="0"/>
              </a:rPr>
              <a:t>Chart</a:t>
            </a:r>
          </a:p>
          <a:p>
            <a:pPr lvl="0" algn="l">
              <a:lnSpc>
                <a:spcPct val="99600"/>
              </a:lnSpc>
            </a:pPr>
            <a:r>
              <a:rPr lang="en-US" sz="8000" b="0" i="0" u="none" strike="noStrike" spc="-300" dirty="0">
                <a:solidFill>
                  <a:srgbClr val="FFFFFF"/>
                </a:solidFill>
                <a:latin typeface="Nasalization" panose="020B0604020202020204" pitchFamily="34" charset="0"/>
              </a:rPr>
              <a:t>Next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3731" y="6842107"/>
            <a:ext cx="57023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sz="32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성공적인</a:t>
            </a:r>
            <a:r>
              <a:rPr lang="en-US" sz="32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투자를</a:t>
            </a:r>
            <a:r>
              <a:rPr lang="en-US" sz="32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위한</a:t>
            </a:r>
          </a:p>
          <a:p>
            <a:pPr lvl="0" algn="l">
              <a:lnSpc>
                <a:spcPct val="141100"/>
              </a:lnSpc>
            </a:pPr>
            <a:r>
              <a:rPr lang="en-US" altLang="ko-KR" sz="40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AI</a:t>
            </a:r>
            <a:r>
              <a:rPr lang="ko-KR" altLang="en-US" sz="4000" b="0" i="0" u="none" strike="noStrike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 투자 분석 플랫폼</a:t>
            </a:r>
            <a:endParaRPr lang="ko-KR" sz="4000" b="0" i="0" u="none" strike="noStrike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8153400" y="292100"/>
            <a:ext cx="8420100" cy="9220200"/>
          </a:xfrm>
          <a:prstGeom prst="rect">
            <a:avLst/>
          </a:prstGeom>
          <a:effectLst>
            <a:outerShdw blurRad="2380822" dist="453178" dir="2700000">
              <a:srgbClr val="000000">
                <a:alpha val="31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12636500" y="1282700"/>
            <a:ext cx="3124200" cy="654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731" y="8483600"/>
            <a:ext cx="3848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AI </a:t>
            </a:r>
            <a:r>
              <a:rPr lang="ko-KR" altLang="en-US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뉴스 큐레이션</a:t>
            </a:r>
            <a:r>
              <a:rPr lang="en-US" altLang="ko-KR" sz="1500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 /</a:t>
            </a:r>
            <a:r>
              <a:rPr lang="en-US" altLang="ko-KR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 </a:t>
            </a:r>
            <a:r>
              <a:rPr lang="ko-KR" altLang="en-US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챗봇</a:t>
            </a:r>
            <a:r>
              <a:rPr lang="en-US" altLang="ko-KR" sz="1500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 /</a:t>
            </a:r>
            <a:r>
              <a:rPr lang="en-US" altLang="ko-KR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 </a:t>
            </a:r>
            <a:r>
              <a:rPr lang="ko-KR" altLang="en-US" sz="1500" b="0" i="0" u="none" strike="noStrike" spc="100" dirty="0">
                <a:solidFill>
                  <a:srgbClr val="FFFFFF">
                    <a:alpha val="30196"/>
                  </a:srgbClr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차트 예측</a:t>
            </a:r>
            <a:endParaRPr lang="en-US" sz="1500" b="0" i="0" u="none" strike="noStrike" spc="100" dirty="0">
              <a:solidFill>
                <a:srgbClr val="FFFFFF">
                  <a:alpha val="30196"/>
                </a:srgbClr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28800" y="1016000"/>
            <a:ext cx="32766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dirty="0">
                <a:solidFill>
                  <a:srgbClr val="FFFFFF"/>
                </a:solidFill>
                <a:latin typeface="Pretendard SemiBold"/>
              </a:rPr>
              <a:t>Made by </a:t>
            </a:r>
            <a:r>
              <a:rPr lang="en-US" sz="1800" b="0" i="0" u="none" strike="noStrike" dirty="0">
                <a:solidFill>
                  <a:srgbClr val="FFFFFF"/>
                </a:solidFill>
                <a:latin typeface="Pretendard SemiBold"/>
              </a:rPr>
              <a:t>Taeyeong &amp; Seoyun</a:t>
            </a:r>
          </a:p>
        </p:txBody>
      </p:sp>
      <p:pic>
        <p:nvPicPr>
          <p:cNvPr id="19" name="그림 18" descr="스크린샷, 휴대 전화, 정보기기, 통신 장치이(가) 표시된 사진&#10;&#10;자동 생성된 설명">
            <a:extLst>
              <a:ext uri="{FF2B5EF4-FFF2-40B4-BE49-F238E27FC236}">
                <a16:creationId xmlns:a16="http://schemas.microsoft.com/office/drawing/2014/main" id="{57D15AD5-2870-3B38-4CEB-B2B42F03F8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104900"/>
            <a:ext cx="4007999" cy="6911655"/>
          </a:xfrm>
          <a:prstGeom prst="rect">
            <a:avLst/>
          </a:prstGeom>
        </p:spPr>
      </p:pic>
      <p:pic>
        <p:nvPicPr>
          <p:cNvPr id="21" name="그림 20" descr="폰트, 그래픽, 로고, 그래픽 디자인이(가) 표시된 사진">
            <a:extLst>
              <a:ext uri="{FF2B5EF4-FFF2-40B4-BE49-F238E27FC236}">
                <a16:creationId xmlns:a16="http://schemas.microsoft.com/office/drawing/2014/main" id="{15B27CA9-CD14-EBA0-D0DF-9F1FA0DC82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5121">
            <a:off x="13363244" y="4316056"/>
            <a:ext cx="1669599" cy="868191"/>
          </a:xfrm>
          <a:prstGeom prst="rect">
            <a:avLst/>
          </a:prstGeom>
        </p:spPr>
      </p:pic>
      <p:pic>
        <p:nvPicPr>
          <p:cNvPr id="23" name="그림 22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489B113C-CA29-399C-E508-0DEBBE5D1F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3800" y="1981200"/>
            <a:ext cx="4660900" cy="251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altLang="ko-KR" sz="5200" b="0" i="0" u="none" strike="noStrike" spc="-200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93800" y="7164029"/>
            <a:ext cx="68834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1900" b="0" i="0" u="none" strike="noStrike" dirty="0">
                <a:solidFill>
                  <a:srgbClr val="FFFFFF">
                    <a:alpha val="50196"/>
                  </a:srgbClr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우리의 목표는 투자자들에게 데이터 기반의 통찰력 있는 의사결정 </a:t>
            </a:r>
            <a:endParaRPr lang="en-US" altLang="ko-KR" sz="1900" b="0" i="0" u="none" strike="noStrike" dirty="0">
              <a:solidFill>
                <a:srgbClr val="FFFFFF">
                  <a:alpha val="50196"/>
                </a:srgbClr>
              </a:solidFill>
              <a:latin typeface="AppleSDGothicNeoL00" panose="02000503000000000000" pitchFamily="2" charset="-127"/>
              <a:ea typeface="AppleSDGothicNeoL00" panose="02000503000000000000" pitchFamily="2" charset="-127"/>
            </a:endParaRPr>
          </a:p>
          <a:p>
            <a:pPr lvl="0" algn="l">
              <a:lnSpc>
                <a:spcPct val="141100"/>
              </a:lnSpc>
            </a:pPr>
            <a:r>
              <a:rPr lang="ko-KR" altLang="en-US" sz="1900" b="0" i="0" u="none" strike="noStrike" dirty="0">
                <a:solidFill>
                  <a:srgbClr val="FFFFFF">
                    <a:alpha val="50196"/>
                  </a:srgbClr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도구를 제공하여</a:t>
            </a:r>
            <a:r>
              <a:rPr lang="en-US" altLang="ko-KR" sz="1900" dirty="0">
                <a:solidFill>
                  <a:srgbClr val="FFFFFF">
                    <a:alpha val="50196"/>
                  </a:srgbClr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 </a:t>
            </a:r>
            <a:r>
              <a:rPr lang="ko-KR" altLang="en-US" sz="1900" dirty="0">
                <a:solidFill>
                  <a:srgbClr val="FFFFFF">
                    <a:alpha val="50196"/>
                  </a:srgbClr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더 나은 투자 여정을 함께 만들어가는 것입니다</a:t>
            </a:r>
            <a:r>
              <a:rPr lang="en-US" altLang="ko-KR" sz="1900" dirty="0">
                <a:solidFill>
                  <a:srgbClr val="FFFFFF">
                    <a:alpha val="50196"/>
                  </a:srgbClr>
                </a:solidFill>
                <a:latin typeface="AppleSDGothicNeoL00" panose="02000503000000000000" pitchFamily="2" charset="-127"/>
                <a:ea typeface="AppleSDGothicNeoL00" panose="02000503000000000000" pitchFamily="2" charset="-127"/>
              </a:rPr>
              <a:t>.</a:t>
            </a:r>
            <a:endParaRPr lang="en-US" altLang="ko-KR" sz="1900" b="0" i="0" u="none" strike="noStrike" dirty="0">
              <a:solidFill>
                <a:srgbClr val="FFFFFF">
                  <a:alpha val="50196"/>
                </a:srgbClr>
              </a:solidFill>
              <a:latin typeface="AppleSDGothicNeoL00" panose="02000503000000000000" pitchFamily="2" charset="-127"/>
              <a:ea typeface="AppleSDGothicNeoL00" panose="02000503000000000000" pitchFamily="2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38700" y="4038600"/>
            <a:ext cx="1651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400" y="1995129"/>
            <a:ext cx="8750300" cy="990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826500" y="2185629"/>
            <a:ext cx="5270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100" b="0" i="0" u="none" strike="noStrike" spc="-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개요</a:t>
            </a:r>
            <a:endParaRPr lang="en-US" sz="3100" b="0" i="0" u="none" strike="noStrike" spc="-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76600" y="2350729"/>
            <a:ext cx="812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1100"/>
              </a:lnSpc>
            </a:pPr>
            <a:r>
              <a:rPr lang="en-US" sz="1500" b="0" i="0" u="none" strike="noStrike" spc="100" dirty="0">
                <a:solidFill>
                  <a:srgbClr val="FFFFFF">
                    <a:alpha val="80000"/>
                  </a:srgbClr>
                </a:solidFill>
                <a:latin typeface="Pretendard Light"/>
              </a:rPr>
              <a:t>01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400" y="3277829"/>
            <a:ext cx="8750300" cy="990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826500" y="3481029"/>
            <a:ext cx="5270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100" b="0" i="0" u="none" strike="noStrike" spc="-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핵심 기능</a:t>
            </a:r>
            <a:endParaRPr lang="en-US" sz="3100" b="0" i="0" u="none" strike="noStrike" spc="-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976600" y="3633429"/>
            <a:ext cx="812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1100"/>
              </a:lnSpc>
            </a:pPr>
            <a:r>
              <a:rPr lang="en-US" sz="1500" b="0" i="0" u="none" strike="noStrike" spc="100" dirty="0">
                <a:solidFill>
                  <a:srgbClr val="FFFFFF">
                    <a:alpha val="80000"/>
                  </a:srgbClr>
                </a:solidFill>
                <a:latin typeface="Pretendard Light"/>
              </a:rPr>
              <a:t>02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400" y="4573229"/>
            <a:ext cx="8750300" cy="990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826500" y="4776429"/>
            <a:ext cx="5270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100" b="0" i="0" u="none" strike="noStrike" spc="-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아키텍쳐</a:t>
            </a:r>
            <a:endParaRPr lang="en-US" sz="3100" b="0" i="0" u="none" strike="noStrike" spc="-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976600" y="4928829"/>
            <a:ext cx="812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1100"/>
              </a:lnSpc>
            </a:pPr>
            <a:r>
              <a:rPr lang="en-US" sz="1500" b="0" i="0" u="none" strike="noStrike" spc="100" dirty="0">
                <a:solidFill>
                  <a:srgbClr val="FFFFFF">
                    <a:alpha val="80000"/>
                  </a:srgbClr>
                </a:solidFill>
                <a:latin typeface="Pretendard Light"/>
              </a:rPr>
              <a:t>03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400" y="5868629"/>
            <a:ext cx="87503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26500" y="6071829"/>
            <a:ext cx="5270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100" spc="-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기술 설명</a:t>
            </a:r>
            <a:endParaRPr lang="en-US" sz="3100" b="0" i="0" u="none" strike="noStrike" spc="-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976600" y="6224229"/>
            <a:ext cx="812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1100"/>
              </a:lnSpc>
            </a:pPr>
            <a:r>
              <a:rPr lang="en-US" sz="1500" spc="100" dirty="0">
                <a:solidFill>
                  <a:srgbClr val="FFFFFF">
                    <a:alpha val="80000"/>
                  </a:srgbClr>
                </a:solidFill>
                <a:latin typeface="Pretendard Light"/>
              </a:rPr>
              <a:t>04</a:t>
            </a:r>
            <a:endParaRPr lang="en-US" sz="1500" b="0" i="0" u="none" strike="noStrike" spc="100" dirty="0">
              <a:solidFill>
                <a:srgbClr val="FFFFFF">
                  <a:alpha val="80000"/>
                </a:srgbClr>
              </a:solidFill>
              <a:latin typeface="Pretendard Light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400" y="7164029"/>
            <a:ext cx="87503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826500" y="7367229"/>
            <a:ext cx="5270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100" b="0" i="0" u="none" strike="noStrike" spc="-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마무리</a:t>
            </a:r>
            <a:endParaRPr lang="en-US" sz="3100" b="0" i="0" u="none" strike="noStrike" spc="-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976600" y="7519629"/>
            <a:ext cx="812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1100"/>
              </a:lnSpc>
            </a:pPr>
            <a:r>
              <a:rPr lang="en-US" sz="1500" b="0" i="0" u="none" strike="noStrike" spc="100" dirty="0">
                <a:solidFill>
                  <a:srgbClr val="FFFFFF">
                    <a:alpha val="80000"/>
                  </a:srgbClr>
                </a:solidFill>
                <a:latin typeface="Pretendard Light"/>
              </a:rPr>
              <a:t>05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28" name="그림 27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6BFD3C89-B348-A178-8B78-BC0F41E36B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pic>
        <p:nvPicPr>
          <p:cNvPr id="22" name="그림 21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A2EFFA3C-D855-D2E5-ADD2-468C5C0994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85" y="3422357"/>
            <a:ext cx="6060665" cy="2407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1955800"/>
            <a:ext cx="9423400" cy="702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700" y="5638800"/>
            <a:ext cx="6223000" cy="332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700" y="1955800"/>
            <a:ext cx="6223000" cy="3327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b="0" i="0" u="none" strike="noStrike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개요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17800" y="2895600"/>
            <a:ext cx="3848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000" spc="1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개발 배경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816100" y="3009900"/>
            <a:ext cx="1270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2082800" y="3009900"/>
            <a:ext cx="127000" cy="12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349500" y="3009900"/>
            <a:ext cx="127000" cy="127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28800" y="3136900"/>
            <a:ext cx="8115300" cy="255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100" b="0" i="0" u="none" strike="noStrike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주식</a:t>
            </a:r>
            <a:r>
              <a:rPr lang="en-US" altLang="ko-KR" sz="3100" b="0" i="0" u="none" strike="noStrike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, </a:t>
            </a:r>
            <a:r>
              <a:rPr lang="ko-KR" altLang="en-US" sz="31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하고 계십니까</a:t>
            </a:r>
            <a:r>
              <a:rPr lang="en-US" altLang="ko-KR" sz="31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09171" y="8064500"/>
            <a:ext cx="1638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000" b="0" i="0" u="none" strike="noStrike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너무 복잡해</a:t>
            </a:r>
            <a:r>
              <a:rPr lang="en-US" altLang="ko-KR" sz="2000" b="0" i="0" u="none" strike="noStrike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…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2658271" y="8178800"/>
            <a:ext cx="127000" cy="127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12924971" y="8178800"/>
            <a:ext cx="127000" cy="12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3191671" y="8178800"/>
            <a:ext cx="127000" cy="127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569700" y="6374642"/>
            <a:ext cx="4953000" cy="161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AI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투자 분석 플랫폼</a:t>
            </a:r>
            <a:endParaRPr lang="en-US" altLang="ko-KR" sz="32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49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차트넥스트</a:t>
            </a:r>
            <a:endParaRPr lang="en-US" sz="49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715837" y="2489200"/>
            <a:ext cx="1346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2000" b="0" i="0" u="none" strike="noStrike" spc="100" dirty="0">
              <a:solidFill>
                <a:srgbClr val="FFFFFF"/>
              </a:solidFill>
              <a:latin typeface="Pretendard Medium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2877637" y="2616200"/>
            <a:ext cx="127000" cy="127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13144337" y="26162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3411037" y="26162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alphaModFix amt="39000"/>
          </a:blip>
          <a:stretch>
            <a:fillRect/>
          </a:stretch>
        </p:blipFill>
        <p:spPr>
          <a:xfrm>
            <a:off x="11912600" y="3086100"/>
            <a:ext cx="1663700" cy="1663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alphaModFix amt="39000"/>
          </a:blip>
          <a:stretch>
            <a:fillRect/>
          </a:stretch>
        </p:blipFill>
        <p:spPr>
          <a:xfrm>
            <a:off x="14637657" y="3086100"/>
            <a:ext cx="1663700" cy="166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alphaModFix amt="65000"/>
          </a:blip>
          <a:stretch>
            <a:fillRect/>
          </a:stretch>
        </p:blipFill>
        <p:spPr>
          <a:xfrm>
            <a:off x="13336814" y="3111500"/>
            <a:ext cx="1587500" cy="15875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2166600" y="3721100"/>
            <a:ext cx="1155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00" b="0" i="0" u="none" strike="noStrike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기술적</a:t>
            </a:r>
            <a:endParaRPr lang="en-US" altLang="ko-KR" sz="2100" b="0" i="0" u="none" strike="noStrike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100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분석</a:t>
            </a:r>
            <a:endParaRPr lang="en-US" sz="2100" b="0" i="0" u="none" strike="noStrike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24807" y="3721100"/>
            <a:ext cx="1435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00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뉴스</a:t>
            </a:r>
            <a:endParaRPr lang="en-US" altLang="ko-KR" sz="2100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100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모니터링</a:t>
            </a:r>
            <a:endParaRPr lang="en-US" altLang="ko-KR" sz="2100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940642" y="3721100"/>
            <a:ext cx="11303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00" b="0" i="0" u="none" strike="noStrike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기본적</a:t>
            </a:r>
            <a:endParaRPr lang="en-US" altLang="ko-KR" sz="2100" b="0" i="0" u="none" strike="noStrike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100" spc="1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분석</a:t>
            </a:r>
            <a:endParaRPr lang="en-US" sz="2100" b="0" i="0" u="none" strike="noStrike" spc="100" dirty="0">
              <a:solidFill>
                <a:srgbClr val="FFFFFF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pic>
        <p:nvPicPr>
          <p:cNvPr id="32" name="Picture 26">
            <a:extLst>
              <a:ext uri="{FF2B5EF4-FFF2-40B4-BE49-F238E27FC236}">
                <a16:creationId xmlns:a16="http://schemas.microsoft.com/office/drawing/2014/main" id="{20B14738-4232-F715-4275-756DF4DB68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33" name="TextBox 27">
            <a:extLst>
              <a:ext uri="{FF2B5EF4-FFF2-40B4-BE49-F238E27FC236}">
                <a16:creationId xmlns:a16="http://schemas.microsoft.com/office/drawing/2014/main" id="{0678A3B8-CF34-386C-9649-14C5CF4C2100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34" name="그림 33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036CB8FF-3EAE-5302-32E5-CF8FE13296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35" name="TextBox 15">
            <a:extLst>
              <a:ext uri="{FF2B5EF4-FFF2-40B4-BE49-F238E27FC236}">
                <a16:creationId xmlns:a16="http://schemas.microsoft.com/office/drawing/2014/main" id="{3DCC66E4-F6A1-63D9-A6D9-E76BF7DCAA53}"/>
              </a:ext>
            </a:extLst>
          </p:cNvPr>
          <p:cNvSpPr txBox="1"/>
          <p:nvPr/>
        </p:nvSpPr>
        <p:spPr>
          <a:xfrm>
            <a:off x="1803400" y="4482194"/>
            <a:ext cx="8115300" cy="255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주식</a:t>
            </a:r>
            <a:r>
              <a:rPr lang="en-US" altLang="ko-KR" sz="44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, </a:t>
            </a:r>
            <a:r>
              <a:rPr lang="ko-KR" altLang="en-US" sz="44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잘 하고 계십니까</a:t>
            </a:r>
            <a:r>
              <a:rPr lang="en-US" altLang="ko-KR" sz="44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?</a:t>
            </a:r>
            <a:endParaRPr lang="en-US" sz="4400" b="0" i="0" u="none" strike="noStrike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7A1BD66E-F2DC-AE44-35C3-8CCD8BCE064F}"/>
              </a:ext>
            </a:extLst>
          </p:cNvPr>
          <p:cNvSpPr txBox="1"/>
          <p:nvPr/>
        </p:nvSpPr>
        <p:spPr>
          <a:xfrm>
            <a:off x="1828800" y="5930900"/>
            <a:ext cx="8115300" cy="255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3100" b="0" i="0" u="none" strike="noStrike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투자는 어렵습니다</a:t>
            </a:r>
            <a:r>
              <a:rPr lang="en-US" altLang="ko-KR" sz="3100" b="0" i="0" u="none" strike="noStrike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.</a:t>
            </a:r>
            <a:endParaRPr lang="en-US" altLang="ko-KR" sz="31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6F5C967F-49C9-7D4B-17DB-14572C41E159}"/>
              </a:ext>
            </a:extLst>
          </p:cNvPr>
          <p:cNvSpPr txBox="1"/>
          <p:nvPr/>
        </p:nvSpPr>
        <p:spPr>
          <a:xfrm>
            <a:off x="13703137" y="2505529"/>
            <a:ext cx="3848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000" b="0" i="0" u="none" strike="noStrike" spc="1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전문가는</a:t>
            </a:r>
            <a:r>
              <a:rPr lang="en-US" altLang="ko-KR" sz="2000" b="0" i="0" u="none" strike="noStrike" spc="1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?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  <p:bldP spid="29" grpId="0"/>
      <p:bldP spid="30" grpId="0"/>
      <p:bldP spid="31" grpId="0"/>
      <p:bldP spid="35" grpId="0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64D19-5C01-3A4B-97B7-FC5135FC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6">
            <a:extLst>
              <a:ext uri="{FF2B5EF4-FFF2-40B4-BE49-F238E27FC236}">
                <a16:creationId xmlns:a16="http://schemas.microsoft.com/office/drawing/2014/main" id="{BF1FE268-3F7D-D14F-24FB-B1828D079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670311B3-16F1-0FE6-43FC-9C21ADF53536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9" name="그림 8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B5A5310C-169E-63D1-04BE-98F6D7C11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F4D7862-5FE8-AB1B-7A49-CB2DFFD296E6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b="0" i="0" u="none" strike="noStrike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개요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AB1F8F35-3ED0-503C-5CD8-E0C0E0AAD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365021"/>
              </p:ext>
            </p:extLst>
          </p:nvPr>
        </p:nvGraphicFramePr>
        <p:xfrm>
          <a:off x="4872144" y="3313112"/>
          <a:ext cx="8543711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5" imgW="7123991" imgH="3052389" progId="">
                  <p:embed/>
                </p:oleObj>
              </mc:Choice>
              <mc:Fallback>
                <p:oleObj r:id="rId5" imgW="7123991" imgH="3052389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2144" y="3313112"/>
                        <a:ext cx="8543711" cy="366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1840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02F68-DDCF-F2F6-1A58-56C86C0C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6">
            <a:extLst>
              <a:ext uri="{FF2B5EF4-FFF2-40B4-BE49-F238E27FC236}">
                <a16:creationId xmlns:a16="http://schemas.microsoft.com/office/drawing/2014/main" id="{4FE5679E-7C04-87BD-F9CC-7315FA543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E2DBA57C-538A-D592-B018-1616D426E5F7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9" name="그림 8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ACA93C42-1CCD-7795-8654-67C66182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C9503402-1EE1-C712-A44A-075ED6FC2537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b="0" i="0" u="none" strike="noStrike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개요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2050" name="Picture 2" descr="2-descriptive-statistics-image">
            <a:extLst>
              <a:ext uri="{FF2B5EF4-FFF2-40B4-BE49-F238E27FC236}">
                <a16:creationId xmlns:a16="http://schemas.microsoft.com/office/drawing/2014/main" id="{DE27D28D-5663-B021-49E3-75907BEB1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64091"/>
            <a:ext cx="5854490" cy="299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7-strategy-comparison-image">
            <a:extLst>
              <a:ext uri="{FF2B5EF4-FFF2-40B4-BE49-F238E27FC236}">
                <a16:creationId xmlns:a16="http://schemas.microsoft.com/office/drawing/2014/main" id="{5817990F-8E4A-FDC4-781C-6698FD7AE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862" y="6998056"/>
            <a:ext cx="7810710" cy="130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5-regression-of-next-day-returns-on-prediction-scores-from-more-advanced-LLMs-image">
            <a:extLst>
              <a:ext uri="{FF2B5EF4-FFF2-40B4-BE49-F238E27FC236}">
                <a16:creationId xmlns:a16="http://schemas.microsoft.com/office/drawing/2014/main" id="{17F4854A-D77E-E181-FFD2-A97987C83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5161360"/>
            <a:ext cx="7306456" cy="322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3-regression-analysis-image">
            <a:extLst>
              <a:ext uri="{FF2B5EF4-FFF2-40B4-BE49-F238E27FC236}">
                <a16:creationId xmlns:a16="http://schemas.microsoft.com/office/drawing/2014/main" id="{713AFB0F-286A-F9B9-DB65-1F46A41E5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576791"/>
            <a:ext cx="8219366" cy="116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210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90119-4DC7-99BF-87E2-0DCAB773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6">
            <a:extLst>
              <a:ext uri="{FF2B5EF4-FFF2-40B4-BE49-F238E27FC236}">
                <a16:creationId xmlns:a16="http://schemas.microsoft.com/office/drawing/2014/main" id="{885D2611-28DF-CE97-E3B9-AC75F0CAA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9DAA8E8D-300E-63C7-F7E5-6D75012AB700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9" name="그림 8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625DA64F-12B3-7CD2-70E2-33A09DDE3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FCF71584-8A99-20CB-AE4A-1022438C0C62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b="0" i="0" u="none" strike="noStrike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개요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3074" name="Picture 2" descr="4-cumulative-returns-of-investing-1usd-image">
            <a:extLst>
              <a:ext uri="{FF2B5EF4-FFF2-40B4-BE49-F238E27FC236}">
                <a16:creationId xmlns:a16="http://schemas.microsoft.com/office/drawing/2014/main" id="{9DED24F0-02D5-2DAE-B39C-46233506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848" y="1794329"/>
            <a:ext cx="10150304" cy="663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1">
            <a:extLst>
              <a:ext uri="{FF2B5EF4-FFF2-40B4-BE49-F238E27FC236}">
                <a16:creationId xmlns:a16="http://schemas.microsoft.com/office/drawing/2014/main" id="{574A51DC-DE35-1FB0-75A9-AC0057AE8C00}"/>
              </a:ext>
            </a:extLst>
          </p:cNvPr>
          <p:cNvSpPr txBox="1"/>
          <p:nvPr/>
        </p:nvSpPr>
        <p:spPr>
          <a:xfrm>
            <a:off x="12115800" y="1581150"/>
            <a:ext cx="4953000" cy="161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수익률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550%</a:t>
            </a:r>
            <a:endParaRPr lang="en-US" sz="49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95C5D9AF-0C86-5D99-B3CE-4280D83ECD2D}"/>
              </a:ext>
            </a:extLst>
          </p:cNvPr>
          <p:cNvSpPr txBox="1"/>
          <p:nvPr/>
        </p:nvSpPr>
        <p:spPr>
          <a:xfrm>
            <a:off x="4042823" y="8578850"/>
            <a:ext cx="10172700" cy="161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“ LLM</a:t>
            </a:r>
            <a:r>
              <a:rPr lang="ko-KR" altLang="en-US" sz="32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을 활용하면 미래 주가 수익률을 예측할 수 있다 </a:t>
            </a:r>
            <a:r>
              <a:rPr lang="en-US" altLang="ko-KR" sz="32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”</a:t>
            </a:r>
            <a:endParaRPr lang="en-US" sz="49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2798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6F690-F2B9-447F-52D6-521ECC98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AE3CEC21-D76D-854E-A3BA-46497FB0F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61" y="1955800"/>
            <a:ext cx="7023100" cy="7023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333C32A-8D05-7DA2-CDDF-01215DCF65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588561" y="1955800"/>
            <a:ext cx="7023100" cy="7023100"/>
          </a:xfrm>
          <a:prstGeom prst="rect">
            <a:avLst/>
          </a:prstGeom>
        </p:spPr>
      </p:pic>
      <p:pic>
        <p:nvPicPr>
          <p:cNvPr id="5" name="Picture 26">
            <a:extLst>
              <a:ext uri="{FF2B5EF4-FFF2-40B4-BE49-F238E27FC236}">
                <a16:creationId xmlns:a16="http://schemas.microsoft.com/office/drawing/2014/main" id="{EE41DBB9-1E22-7CAD-F196-96189CB39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2234955D-CDE9-9A8D-4EB4-EF35FD89F361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9" name="그림 8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C5A4508F-4650-07A6-A1BC-0F33725B90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D481E51A-99F9-614D-1835-495F258C900F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핵심 기능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42" name="Picture 22">
            <a:extLst>
              <a:ext uri="{FF2B5EF4-FFF2-40B4-BE49-F238E27FC236}">
                <a16:creationId xmlns:a16="http://schemas.microsoft.com/office/drawing/2014/main" id="{2684CD95-9521-6D49-BF83-81E6DEC99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964" y="5716621"/>
            <a:ext cx="3253294" cy="3253294"/>
          </a:xfrm>
          <a:prstGeom prst="rect">
            <a:avLst/>
          </a:prstGeom>
        </p:spPr>
      </p:pic>
      <p:pic>
        <p:nvPicPr>
          <p:cNvPr id="43" name="Picture 23">
            <a:extLst>
              <a:ext uri="{FF2B5EF4-FFF2-40B4-BE49-F238E27FC236}">
                <a16:creationId xmlns:a16="http://schemas.microsoft.com/office/drawing/2014/main" id="{DA631235-AF38-601D-E51D-A735A114440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5745964" y="5716621"/>
            <a:ext cx="3253294" cy="3253294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C158E36-98B2-3E69-F998-CF3C5B9D0D50}"/>
              </a:ext>
            </a:extLst>
          </p:cNvPr>
          <p:cNvSpPr txBox="1"/>
          <p:nvPr/>
        </p:nvSpPr>
        <p:spPr>
          <a:xfrm>
            <a:off x="6428884" y="7839943"/>
            <a:ext cx="1793875" cy="11661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오늘의</a:t>
            </a:r>
            <a:endParaRPr lang="en-US" altLang="ko-KR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핫 토픽</a:t>
            </a:r>
            <a:endParaRPr lang="en-US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49" name="Picture 22">
            <a:extLst>
              <a:ext uri="{FF2B5EF4-FFF2-40B4-BE49-F238E27FC236}">
                <a16:creationId xmlns:a16="http://schemas.microsoft.com/office/drawing/2014/main" id="{20C70924-2A40-CA58-9D4B-CECE7A3D3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5721" y="1960918"/>
            <a:ext cx="3253294" cy="3253294"/>
          </a:xfrm>
          <a:prstGeom prst="rect">
            <a:avLst/>
          </a:prstGeom>
        </p:spPr>
      </p:pic>
      <p:pic>
        <p:nvPicPr>
          <p:cNvPr id="50" name="Picture 23">
            <a:extLst>
              <a:ext uri="{FF2B5EF4-FFF2-40B4-BE49-F238E27FC236}">
                <a16:creationId xmlns:a16="http://schemas.microsoft.com/office/drawing/2014/main" id="{71D019CF-0761-1473-B0E5-C9D199B2DFD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815721" y="1960918"/>
            <a:ext cx="3253294" cy="3253294"/>
          </a:xfrm>
          <a:prstGeom prst="rect">
            <a:avLst/>
          </a:prstGeom>
        </p:spPr>
      </p:pic>
      <p:sp>
        <p:nvSpPr>
          <p:cNvPr id="51" name="TextBox 7">
            <a:extLst>
              <a:ext uri="{FF2B5EF4-FFF2-40B4-BE49-F238E27FC236}">
                <a16:creationId xmlns:a16="http://schemas.microsoft.com/office/drawing/2014/main" id="{F4BE0147-7356-7166-386D-B04E45CC444F}"/>
              </a:ext>
            </a:extLst>
          </p:cNvPr>
          <p:cNvSpPr txBox="1"/>
          <p:nvPr/>
        </p:nvSpPr>
        <p:spPr>
          <a:xfrm>
            <a:off x="2498641" y="4084240"/>
            <a:ext cx="1793875" cy="11661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관심 기업</a:t>
            </a:r>
            <a:endParaRPr lang="en-US" altLang="ko-KR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8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관리</a:t>
            </a:r>
            <a:endParaRPr lang="en-US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53" name="Picture 22">
            <a:extLst>
              <a:ext uri="{FF2B5EF4-FFF2-40B4-BE49-F238E27FC236}">
                <a16:creationId xmlns:a16="http://schemas.microsoft.com/office/drawing/2014/main" id="{3EBF2877-DF82-1B00-7F4F-FD28B153F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69" y="5725606"/>
            <a:ext cx="3253294" cy="3253294"/>
          </a:xfrm>
          <a:prstGeom prst="rect">
            <a:avLst/>
          </a:prstGeom>
        </p:spPr>
      </p:pic>
      <p:pic>
        <p:nvPicPr>
          <p:cNvPr id="54" name="Picture 23">
            <a:extLst>
              <a:ext uri="{FF2B5EF4-FFF2-40B4-BE49-F238E27FC236}">
                <a16:creationId xmlns:a16="http://schemas.microsoft.com/office/drawing/2014/main" id="{3FE09060-A7FE-0474-29EA-A37A6F4FC62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809769" y="5725606"/>
            <a:ext cx="3253294" cy="3253294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22AA122F-E30C-D80A-1E56-78C3DB162291}"/>
              </a:ext>
            </a:extLst>
          </p:cNvPr>
          <p:cNvSpPr txBox="1"/>
          <p:nvPr/>
        </p:nvSpPr>
        <p:spPr>
          <a:xfrm>
            <a:off x="2492689" y="7848928"/>
            <a:ext cx="1793875" cy="11661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RAG</a:t>
            </a:r>
            <a:r>
              <a:rPr lang="ko-KR" altLang="en-US" sz="28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 기반</a:t>
            </a:r>
            <a:endParaRPr lang="en-US" altLang="ko-KR" sz="2800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챗봇</a:t>
            </a:r>
            <a:endParaRPr lang="en-US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57" name="Picture 22">
            <a:extLst>
              <a:ext uri="{FF2B5EF4-FFF2-40B4-BE49-F238E27FC236}">
                <a16:creationId xmlns:a16="http://schemas.microsoft.com/office/drawing/2014/main" id="{51C08EB9-106F-4717-3883-0F5BF6FB0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959" y="1991999"/>
            <a:ext cx="3253294" cy="3253294"/>
          </a:xfrm>
          <a:prstGeom prst="rect">
            <a:avLst/>
          </a:prstGeom>
        </p:spPr>
      </p:pic>
      <p:pic>
        <p:nvPicPr>
          <p:cNvPr id="58" name="Picture 23">
            <a:extLst>
              <a:ext uri="{FF2B5EF4-FFF2-40B4-BE49-F238E27FC236}">
                <a16:creationId xmlns:a16="http://schemas.microsoft.com/office/drawing/2014/main" id="{FC914B08-93E8-FD22-D081-457D1C25C14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5741959" y="1991999"/>
            <a:ext cx="3253294" cy="3253294"/>
          </a:xfrm>
          <a:prstGeom prst="rect">
            <a:avLst/>
          </a:prstGeom>
        </p:spPr>
      </p:pic>
      <p:sp>
        <p:nvSpPr>
          <p:cNvPr id="59" name="TextBox 7">
            <a:extLst>
              <a:ext uri="{FF2B5EF4-FFF2-40B4-BE49-F238E27FC236}">
                <a16:creationId xmlns:a16="http://schemas.microsoft.com/office/drawing/2014/main" id="{DE4B132E-B5EC-CDFE-5158-6ED77C9FAB6B}"/>
              </a:ext>
            </a:extLst>
          </p:cNvPr>
          <p:cNvSpPr txBox="1"/>
          <p:nvPr/>
        </p:nvSpPr>
        <p:spPr>
          <a:xfrm>
            <a:off x="6424879" y="4079122"/>
            <a:ext cx="1793875" cy="11661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뉴스 추천</a:t>
            </a:r>
            <a:endParaRPr lang="en-US" altLang="ko-KR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AI </a:t>
            </a:r>
            <a:r>
              <a:rPr lang="ko-KR" altLang="en-US" sz="2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요약</a:t>
            </a:r>
            <a:endParaRPr lang="en-US" sz="2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13F71F5F-4FC9-D9AF-082E-4409FD1402E1}"/>
              </a:ext>
            </a:extLst>
          </p:cNvPr>
          <p:cNvSpPr txBox="1"/>
          <p:nvPr/>
        </p:nvSpPr>
        <p:spPr>
          <a:xfrm>
            <a:off x="12203173" y="7389860"/>
            <a:ext cx="1793875" cy="11661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주가</a:t>
            </a:r>
            <a:r>
              <a:rPr lang="en-US" altLang="ko-KR" sz="36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 </a:t>
            </a:r>
            <a:r>
              <a:rPr lang="ko-KR" altLang="en-US" sz="36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예측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62" name="그림 61" descr="상징, 그래픽, 화이트, 폰트이(가) 표시된 사진&#10;&#10;자동 생성된 설명">
            <a:extLst>
              <a:ext uri="{FF2B5EF4-FFF2-40B4-BE49-F238E27FC236}">
                <a16:creationId xmlns:a16="http://schemas.microsoft.com/office/drawing/2014/main" id="{888663E1-8978-6BC7-A042-73FEB133F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712" y="3425542"/>
            <a:ext cx="3435915" cy="3435915"/>
          </a:xfrm>
          <a:prstGeom prst="rect">
            <a:avLst/>
          </a:prstGeom>
        </p:spPr>
      </p:pic>
      <p:pic>
        <p:nvPicPr>
          <p:cNvPr id="3" name="그림 2" descr="직사각형, 사각형, 그래픽, 상징이(가) 표시된 사진&#10;&#10;자동 생성된 설명">
            <a:extLst>
              <a:ext uri="{FF2B5EF4-FFF2-40B4-BE49-F238E27FC236}">
                <a16:creationId xmlns:a16="http://schemas.microsoft.com/office/drawing/2014/main" id="{AB04E84A-43DB-5470-E2F5-15834AA99BE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37" y="2496041"/>
            <a:ext cx="1546882" cy="1546882"/>
          </a:xfrm>
          <a:prstGeom prst="rect">
            <a:avLst/>
          </a:prstGeom>
        </p:spPr>
      </p:pic>
      <p:pic>
        <p:nvPicPr>
          <p:cNvPr id="8" name="그림 7" descr="클립아트, 그래픽, 상징, 폰트이(가) 표시된 사진&#10;&#10;자동 생성된 설명">
            <a:extLst>
              <a:ext uri="{FF2B5EF4-FFF2-40B4-BE49-F238E27FC236}">
                <a16:creationId xmlns:a16="http://schemas.microsoft.com/office/drawing/2014/main" id="{BC2D980D-1CA0-909C-4E23-8638E24D4B2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851" y="6185832"/>
            <a:ext cx="1499293" cy="1499293"/>
          </a:xfrm>
          <a:prstGeom prst="rect">
            <a:avLst/>
          </a:prstGeom>
        </p:spPr>
      </p:pic>
      <p:pic>
        <p:nvPicPr>
          <p:cNvPr id="13" name="그림 12" descr="로고, 그래픽, 디자인, 폰트이(가) 표시된 사진&#10;&#10;자동 생성된 설명">
            <a:extLst>
              <a:ext uri="{FF2B5EF4-FFF2-40B4-BE49-F238E27FC236}">
                <a16:creationId xmlns:a16="http://schemas.microsoft.com/office/drawing/2014/main" id="{9A877CCC-3356-B0DC-931D-BF1B9CA47B1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398" y="2426412"/>
            <a:ext cx="1616511" cy="1616511"/>
          </a:xfrm>
          <a:prstGeom prst="rect">
            <a:avLst/>
          </a:prstGeom>
        </p:spPr>
      </p:pic>
      <p:pic>
        <p:nvPicPr>
          <p:cNvPr id="16" name="그림 15" descr="로고, 창의성, 상징, 클립아트이(가) 표시된 사진&#10;&#10;자동 생성된 설명">
            <a:extLst>
              <a:ext uri="{FF2B5EF4-FFF2-40B4-BE49-F238E27FC236}">
                <a16:creationId xmlns:a16="http://schemas.microsoft.com/office/drawing/2014/main" id="{3AB3C2CF-E459-263E-526C-CA9AE275A3D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313" y="6239755"/>
            <a:ext cx="1556596" cy="155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77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1" grpId="0"/>
      <p:bldP spid="55" grpId="0"/>
      <p:bldP spid="59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F96FF-9D14-389C-51F4-781191E2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6">
            <a:extLst>
              <a:ext uri="{FF2B5EF4-FFF2-40B4-BE49-F238E27FC236}">
                <a16:creationId xmlns:a16="http://schemas.microsoft.com/office/drawing/2014/main" id="{44B84F31-FE33-D3BC-D310-E49D93B4B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A1C9C25F-BE61-E5C2-2E57-0F063D02F3B9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9" name="그림 8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FDC210EE-CD5D-C810-A5C8-D30D2363F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34CD088A-0F04-022B-A8F8-0D99B45C452C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핵심 기능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E77360D-A4E6-CB02-8789-3C7DCC7F7F23}"/>
              </a:ext>
            </a:extLst>
          </p:cNvPr>
          <p:cNvSpPr txBox="1"/>
          <p:nvPr/>
        </p:nvSpPr>
        <p:spPr>
          <a:xfrm>
            <a:off x="6553200" y="4359275"/>
            <a:ext cx="4953000" cy="156845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5400000" sx="200000" sy="200000" algn="t" rotWithShape="0">
              <a:prstClr val="black">
                <a:alpha val="42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900" b="0" i="0" u="none" strike="noStrike" spc="-200" dirty="0">
                <a:solidFill>
                  <a:srgbClr val="FFFFFF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백문이 불여일견</a:t>
            </a:r>
            <a:endParaRPr lang="en-US" sz="4900" b="0" i="0" u="none" strike="noStrike" spc="-200" dirty="0">
              <a:solidFill>
                <a:srgbClr val="FFFFFF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870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E5D26F6E-87F7-1FD9-0853-FCCDA6C3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714500"/>
            <a:ext cx="9592374" cy="767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6" name="Picture 26">
            <a:extLst>
              <a:ext uri="{FF2B5EF4-FFF2-40B4-BE49-F238E27FC236}">
                <a16:creationId xmlns:a16="http://schemas.microsoft.com/office/drawing/2014/main" id="{D0D27642-EC89-FAB8-E820-49F5EE82B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37" name="TextBox 27">
            <a:extLst>
              <a:ext uri="{FF2B5EF4-FFF2-40B4-BE49-F238E27FC236}">
                <a16:creationId xmlns:a16="http://schemas.microsoft.com/office/drawing/2014/main" id="{96A794EA-C5E0-A680-7694-DF73549C1CAD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38" name="그림 37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11ADD1F7-64B8-594B-A5E8-E8860B981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39" name="TextBox 8">
            <a:extLst>
              <a:ext uri="{FF2B5EF4-FFF2-40B4-BE49-F238E27FC236}">
                <a16:creationId xmlns:a16="http://schemas.microsoft.com/office/drawing/2014/main" id="{E7B8B690-FBAA-A987-1F8A-5C86B25E0F7D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아키텍쳐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6540500"/>
            <a:ext cx="3721100" cy="203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6540500"/>
            <a:ext cx="3721100" cy="2032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6540500"/>
            <a:ext cx="3721100" cy="2032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0" y="6540500"/>
            <a:ext cx="3721100" cy="203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562100" y="8089900"/>
            <a:ext cx="2870200" cy="3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90650" y="7235114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뉴스 원본 데이터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562100" y="6972300"/>
            <a:ext cx="2870200" cy="38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463" y="8737600"/>
            <a:ext cx="292100" cy="2921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719693" y="8757312"/>
            <a:ext cx="2879701" cy="23962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대용량 크롤링 데이터 저장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336" y="8737600"/>
            <a:ext cx="292100" cy="292100"/>
          </a:xfrm>
          <a:prstGeom prst="rect">
            <a:avLst/>
          </a:prstGeom>
        </p:spPr>
      </p:pic>
      <p:pic>
        <p:nvPicPr>
          <p:cNvPr id="39" name="Picture 26">
            <a:extLst>
              <a:ext uri="{FF2B5EF4-FFF2-40B4-BE49-F238E27FC236}">
                <a16:creationId xmlns:a16="http://schemas.microsoft.com/office/drawing/2014/main" id="{C80B2DD6-3437-8D3B-D604-3DDC3D938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40" name="TextBox 27">
            <a:extLst>
              <a:ext uri="{FF2B5EF4-FFF2-40B4-BE49-F238E27FC236}">
                <a16:creationId xmlns:a16="http://schemas.microsoft.com/office/drawing/2014/main" id="{7171F671-603B-727B-E973-BB9C6708E66D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41" name="그림 40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D7DC476F-5024-D09D-440F-6F54514FDD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42" name="TextBox 8">
            <a:extLst>
              <a:ext uri="{FF2B5EF4-FFF2-40B4-BE49-F238E27FC236}">
                <a16:creationId xmlns:a16="http://schemas.microsoft.com/office/drawing/2014/main" id="{ED020ABD-3C08-AD98-F22D-A49F7E172F28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아키텍쳐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43" name="TextBox 25">
            <a:extLst>
              <a:ext uri="{FF2B5EF4-FFF2-40B4-BE49-F238E27FC236}">
                <a16:creationId xmlns:a16="http://schemas.microsoft.com/office/drawing/2014/main" id="{9082CD53-0910-49D1-1872-87F79D4B34D8}"/>
              </a:ext>
            </a:extLst>
          </p:cNvPr>
          <p:cNvSpPr txBox="1"/>
          <p:nvPr/>
        </p:nvSpPr>
        <p:spPr>
          <a:xfrm>
            <a:off x="10150475" y="8702474"/>
            <a:ext cx="2501900" cy="35857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사용자 정보</a:t>
            </a:r>
            <a:r>
              <a:rPr lang="en-US" altLang="ko-KR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, </a:t>
            </a:r>
            <a:r>
              <a:rPr lang="ko-KR" altLang="en-US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주가</a:t>
            </a:r>
            <a:r>
              <a:rPr lang="en-US" altLang="ko-KR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</a:t>
            </a:r>
            <a:r>
              <a:rPr lang="ko-KR" altLang="en-US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등 저장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47" name="그림 46" descr="그래픽, 텍스트, 폰트, 그래픽 디자인이(가) 표시된 사진&#10;&#10;자동 생성된 설명">
            <a:extLst>
              <a:ext uri="{FF2B5EF4-FFF2-40B4-BE49-F238E27FC236}">
                <a16:creationId xmlns:a16="http://schemas.microsoft.com/office/drawing/2014/main" id="{61F7922E-DB33-FE16-53B2-4641EAE921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95" y="5593018"/>
            <a:ext cx="2196870" cy="999955"/>
          </a:xfrm>
          <a:prstGeom prst="rect">
            <a:avLst/>
          </a:prstGeom>
        </p:spPr>
      </p:pic>
      <p:pic>
        <p:nvPicPr>
          <p:cNvPr id="48" name="Picture 24">
            <a:extLst>
              <a:ext uri="{FF2B5EF4-FFF2-40B4-BE49-F238E27FC236}">
                <a16:creationId xmlns:a16="http://schemas.microsoft.com/office/drawing/2014/main" id="{37B6A725-8FDB-7259-7D87-AE60F68A3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229" y="8737600"/>
            <a:ext cx="292100" cy="292100"/>
          </a:xfrm>
          <a:prstGeom prst="rect">
            <a:avLst/>
          </a:prstGeom>
        </p:spPr>
      </p:pic>
      <p:sp>
        <p:nvSpPr>
          <p:cNvPr id="49" name="TextBox 25">
            <a:extLst>
              <a:ext uri="{FF2B5EF4-FFF2-40B4-BE49-F238E27FC236}">
                <a16:creationId xmlns:a16="http://schemas.microsoft.com/office/drawing/2014/main" id="{582C64A9-CA81-2333-DC50-FEE55E3A5503}"/>
              </a:ext>
            </a:extLst>
          </p:cNvPr>
          <p:cNvSpPr txBox="1"/>
          <p:nvPr/>
        </p:nvSpPr>
        <p:spPr>
          <a:xfrm>
            <a:off x="6145379" y="8737600"/>
            <a:ext cx="2174542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대규모 데이터 처리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50" name="Picture 24">
            <a:extLst>
              <a:ext uri="{FF2B5EF4-FFF2-40B4-BE49-F238E27FC236}">
                <a16:creationId xmlns:a16="http://schemas.microsoft.com/office/drawing/2014/main" id="{454EDE0C-6D81-181C-371A-241F4B876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7900" y="8737600"/>
            <a:ext cx="292100" cy="292100"/>
          </a:xfrm>
          <a:prstGeom prst="rect">
            <a:avLst/>
          </a:prstGeom>
        </p:spPr>
      </p:pic>
      <p:sp>
        <p:nvSpPr>
          <p:cNvPr id="51" name="TextBox 25">
            <a:extLst>
              <a:ext uri="{FF2B5EF4-FFF2-40B4-BE49-F238E27FC236}">
                <a16:creationId xmlns:a16="http://schemas.microsoft.com/office/drawing/2014/main" id="{22ACEFF5-543C-5A58-9476-E7FE23AA9A4E}"/>
              </a:ext>
            </a:extLst>
          </p:cNvPr>
          <p:cNvSpPr txBox="1"/>
          <p:nvPr/>
        </p:nvSpPr>
        <p:spPr>
          <a:xfrm>
            <a:off x="13944600" y="8712200"/>
            <a:ext cx="32004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사용자 인증</a:t>
            </a:r>
            <a:r>
              <a:rPr lang="en-US" altLang="ko-KR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/</a:t>
            </a:r>
            <a:r>
              <a:rPr lang="ko-KR" altLang="en-US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인가</a:t>
            </a:r>
            <a:r>
              <a:rPr lang="en-US" altLang="ko-KR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, AI </a:t>
            </a:r>
            <a:r>
              <a:rPr lang="ko-KR" altLang="en-US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모델 처리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26" name="Picture 2" descr="Spark">
            <a:extLst>
              <a:ext uri="{FF2B5EF4-FFF2-40B4-BE49-F238E27FC236}">
                <a16:creationId xmlns:a16="http://schemas.microsoft.com/office/drawing/2014/main" id="{39A1F8D3-29D0-5C6B-671D-BAB4F4172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504" y="5544342"/>
            <a:ext cx="2688892" cy="109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8">
            <a:extLst>
              <a:ext uri="{FF2B5EF4-FFF2-40B4-BE49-F238E27FC236}">
                <a16:creationId xmlns:a16="http://schemas.microsoft.com/office/drawing/2014/main" id="{C10BA20E-0C93-D644-230B-CEA049B05A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684956" y="8089900"/>
            <a:ext cx="2870200" cy="38100"/>
          </a:xfrm>
          <a:prstGeom prst="rect">
            <a:avLst/>
          </a:prstGeom>
        </p:spPr>
      </p:pic>
      <p:sp>
        <p:nvSpPr>
          <p:cNvPr id="53" name="TextBox 19">
            <a:extLst>
              <a:ext uri="{FF2B5EF4-FFF2-40B4-BE49-F238E27FC236}">
                <a16:creationId xmlns:a16="http://schemas.microsoft.com/office/drawing/2014/main" id="{AC7873D0-C452-2EE2-28E6-6DB6A19A7329}"/>
              </a:ext>
            </a:extLst>
          </p:cNvPr>
          <p:cNvSpPr txBox="1"/>
          <p:nvPr/>
        </p:nvSpPr>
        <p:spPr>
          <a:xfrm>
            <a:off x="5513506" y="7235114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데이터 전처리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54" name="Picture 20">
            <a:extLst>
              <a:ext uri="{FF2B5EF4-FFF2-40B4-BE49-F238E27FC236}">
                <a16:creationId xmlns:a16="http://schemas.microsoft.com/office/drawing/2014/main" id="{776EB18D-B0EC-B5B0-75CE-D839A17E0A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684956" y="6972300"/>
            <a:ext cx="2870200" cy="38100"/>
          </a:xfrm>
          <a:prstGeom prst="rect">
            <a:avLst/>
          </a:prstGeom>
        </p:spPr>
      </p:pic>
      <p:pic>
        <p:nvPicPr>
          <p:cNvPr id="56" name="그림 55" descr="스크린샷, 그래픽, 로고, 그래픽 디자인이(가) 표시된 사진">
            <a:extLst>
              <a:ext uri="{FF2B5EF4-FFF2-40B4-BE49-F238E27FC236}">
                <a16:creationId xmlns:a16="http://schemas.microsoft.com/office/drawing/2014/main" id="{D360577E-3D58-FFDB-983B-036CB1E5705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5" t="36601" r="34594" b="43120"/>
          <a:stretch/>
        </p:blipFill>
        <p:spPr>
          <a:xfrm>
            <a:off x="10150475" y="5687016"/>
            <a:ext cx="2089150" cy="706083"/>
          </a:xfrm>
          <a:prstGeom prst="rect">
            <a:avLst/>
          </a:prstGeom>
        </p:spPr>
      </p:pic>
      <p:pic>
        <p:nvPicPr>
          <p:cNvPr id="1032" name="Picture 8" descr="Django - 삽질도 두드려 보고,">
            <a:extLst>
              <a:ext uri="{FF2B5EF4-FFF2-40B4-BE49-F238E27FC236}">
                <a16:creationId xmlns:a16="http://schemas.microsoft.com/office/drawing/2014/main" id="{E84A7C8F-0688-867C-5837-E9515E31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8021" y="5793593"/>
            <a:ext cx="1236829" cy="56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8">
            <a:extLst>
              <a:ext uri="{FF2B5EF4-FFF2-40B4-BE49-F238E27FC236}">
                <a16:creationId xmlns:a16="http://schemas.microsoft.com/office/drawing/2014/main" id="{AC1D6B49-16FB-8DE7-AA8C-4BE0704BDF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753600" y="8089900"/>
            <a:ext cx="2870200" cy="38100"/>
          </a:xfrm>
          <a:prstGeom prst="rect">
            <a:avLst/>
          </a:prstGeom>
        </p:spPr>
      </p:pic>
      <p:sp>
        <p:nvSpPr>
          <p:cNvPr id="1046" name="TextBox 19">
            <a:extLst>
              <a:ext uri="{FF2B5EF4-FFF2-40B4-BE49-F238E27FC236}">
                <a16:creationId xmlns:a16="http://schemas.microsoft.com/office/drawing/2014/main" id="{BA963C02-407D-77F1-19F7-6E790E64FBFD}"/>
              </a:ext>
            </a:extLst>
          </p:cNvPr>
          <p:cNvSpPr txBox="1"/>
          <p:nvPr/>
        </p:nvSpPr>
        <p:spPr>
          <a:xfrm>
            <a:off x="9582150" y="7235114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데이터 저장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47" name="Picture 20">
            <a:extLst>
              <a:ext uri="{FF2B5EF4-FFF2-40B4-BE49-F238E27FC236}">
                <a16:creationId xmlns:a16="http://schemas.microsoft.com/office/drawing/2014/main" id="{0D36AE38-C1C5-9F0C-5D88-232EEC5D91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753600" y="6972300"/>
            <a:ext cx="2870200" cy="38100"/>
          </a:xfrm>
          <a:prstGeom prst="rect">
            <a:avLst/>
          </a:prstGeom>
        </p:spPr>
      </p:pic>
      <p:pic>
        <p:nvPicPr>
          <p:cNvPr id="1048" name="Picture 18">
            <a:extLst>
              <a:ext uri="{FF2B5EF4-FFF2-40B4-BE49-F238E27FC236}">
                <a16:creationId xmlns:a16="http://schemas.microsoft.com/office/drawing/2014/main" id="{CC08480B-559C-416C-EDDA-442DBF3580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3890625" y="8089900"/>
            <a:ext cx="2870200" cy="38100"/>
          </a:xfrm>
          <a:prstGeom prst="rect">
            <a:avLst/>
          </a:prstGeom>
        </p:spPr>
      </p:pic>
      <p:sp>
        <p:nvSpPr>
          <p:cNvPr id="1049" name="TextBox 19">
            <a:extLst>
              <a:ext uri="{FF2B5EF4-FFF2-40B4-BE49-F238E27FC236}">
                <a16:creationId xmlns:a16="http://schemas.microsoft.com/office/drawing/2014/main" id="{995151E5-84A1-9B8A-BB44-A75320E7FB0D}"/>
              </a:ext>
            </a:extLst>
          </p:cNvPr>
          <p:cNvSpPr txBox="1"/>
          <p:nvPr/>
        </p:nvSpPr>
        <p:spPr>
          <a:xfrm>
            <a:off x="13719175" y="7235114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API</a:t>
            </a:r>
            <a:r>
              <a:rPr lang="ko-KR" alt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서버 및 로직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50" name="Picture 20">
            <a:extLst>
              <a:ext uri="{FF2B5EF4-FFF2-40B4-BE49-F238E27FC236}">
                <a16:creationId xmlns:a16="http://schemas.microsoft.com/office/drawing/2014/main" id="{170D7791-86B3-0C8C-BBA2-59F99784AD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3890625" y="6972300"/>
            <a:ext cx="2870200" cy="38100"/>
          </a:xfrm>
          <a:prstGeom prst="rect">
            <a:avLst/>
          </a:prstGeom>
        </p:spPr>
      </p:pic>
      <p:pic>
        <p:nvPicPr>
          <p:cNvPr id="1051" name="Picture 15">
            <a:extLst>
              <a:ext uri="{FF2B5EF4-FFF2-40B4-BE49-F238E27FC236}">
                <a16:creationId xmlns:a16="http://schemas.microsoft.com/office/drawing/2014/main" id="{E7086DBB-4EE2-5730-8005-D21BC1D75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2329658"/>
            <a:ext cx="3721100" cy="2032000"/>
          </a:xfrm>
          <a:prstGeom prst="rect">
            <a:avLst/>
          </a:prstGeom>
        </p:spPr>
      </p:pic>
      <p:pic>
        <p:nvPicPr>
          <p:cNvPr id="1052" name="Picture 16">
            <a:extLst>
              <a:ext uri="{FF2B5EF4-FFF2-40B4-BE49-F238E27FC236}">
                <a16:creationId xmlns:a16="http://schemas.microsoft.com/office/drawing/2014/main" id="{92B509C8-95CA-9496-1429-41365C18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693" y="2329658"/>
            <a:ext cx="3721100" cy="2032000"/>
          </a:xfrm>
          <a:prstGeom prst="rect">
            <a:avLst/>
          </a:prstGeom>
        </p:spPr>
      </p:pic>
      <p:pic>
        <p:nvPicPr>
          <p:cNvPr id="1053" name="Picture 32">
            <a:extLst>
              <a:ext uri="{FF2B5EF4-FFF2-40B4-BE49-F238E27FC236}">
                <a16:creationId xmlns:a16="http://schemas.microsoft.com/office/drawing/2014/main" id="{7340FBF1-B8F7-9243-728E-5FD6C1440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9100" y="4526758"/>
            <a:ext cx="292100" cy="292100"/>
          </a:xfrm>
          <a:prstGeom prst="rect">
            <a:avLst/>
          </a:prstGeom>
        </p:spPr>
      </p:pic>
      <p:sp>
        <p:nvSpPr>
          <p:cNvPr id="1054" name="TextBox 25">
            <a:extLst>
              <a:ext uri="{FF2B5EF4-FFF2-40B4-BE49-F238E27FC236}">
                <a16:creationId xmlns:a16="http://schemas.microsoft.com/office/drawing/2014/main" id="{64FC0110-51F7-89FA-E564-805FE22165A0}"/>
              </a:ext>
            </a:extLst>
          </p:cNvPr>
          <p:cNvSpPr txBox="1"/>
          <p:nvPr/>
        </p:nvSpPr>
        <p:spPr>
          <a:xfrm>
            <a:off x="12115800" y="4501358"/>
            <a:ext cx="1471732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AI </a:t>
            </a:r>
            <a:r>
              <a:rPr lang="ko-KR" altLang="en-US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모델 학습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55" name="Picture 24">
            <a:extLst>
              <a:ext uri="{FF2B5EF4-FFF2-40B4-BE49-F238E27FC236}">
                <a16:creationId xmlns:a16="http://schemas.microsoft.com/office/drawing/2014/main" id="{6DDC3321-1292-5A59-5A45-31BB07EA5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859" y="4526758"/>
            <a:ext cx="292100" cy="292100"/>
          </a:xfrm>
          <a:prstGeom prst="rect">
            <a:avLst/>
          </a:prstGeom>
        </p:spPr>
      </p:pic>
      <p:sp>
        <p:nvSpPr>
          <p:cNvPr id="1056" name="TextBox 25">
            <a:extLst>
              <a:ext uri="{FF2B5EF4-FFF2-40B4-BE49-F238E27FC236}">
                <a16:creationId xmlns:a16="http://schemas.microsoft.com/office/drawing/2014/main" id="{DB384052-A13C-E3B5-C902-009B6437EFB7}"/>
              </a:ext>
            </a:extLst>
          </p:cNvPr>
          <p:cNvSpPr txBox="1"/>
          <p:nvPr/>
        </p:nvSpPr>
        <p:spPr>
          <a:xfrm>
            <a:off x="4975559" y="4501358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1800" b="0" i="0" u="none" strike="noStrike" spc="100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시각화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57" name="Picture 18">
            <a:extLst>
              <a:ext uri="{FF2B5EF4-FFF2-40B4-BE49-F238E27FC236}">
                <a16:creationId xmlns:a16="http://schemas.microsoft.com/office/drawing/2014/main" id="{D2676587-025F-AF04-7768-59876655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81557" y="3879057"/>
            <a:ext cx="2870200" cy="45719"/>
          </a:xfrm>
          <a:prstGeom prst="rect">
            <a:avLst/>
          </a:prstGeom>
        </p:spPr>
      </p:pic>
      <p:sp>
        <p:nvSpPr>
          <p:cNvPr id="1058" name="TextBox 19">
            <a:extLst>
              <a:ext uri="{FF2B5EF4-FFF2-40B4-BE49-F238E27FC236}">
                <a16:creationId xmlns:a16="http://schemas.microsoft.com/office/drawing/2014/main" id="{CFEB3F87-061A-7666-347B-DA27796249AA}"/>
              </a:ext>
            </a:extLst>
          </p:cNvPr>
          <p:cNvSpPr txBox="1"/>
          <p:nvPr/>
        </p:nvSpPr>
        <p:spPr>
          <a:xfrm>
            <a:off x="3710107" y="3024272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UI</a:t>
            </a:r>
            <a:r>
              <a:rPr lang="ko-KR" alt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</a:t>
            </a:r>
            <a:r>
              <a:rPr lang="en-US" altLang="ko-KR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/</a:t>
            </a:r>
            <a:r>
              <a:rPr lang="ko-KR" altLang="en-US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</a:t>
            </a:r>
            <a:r>
              <a:rPr lang="en-US" altLang="ko-KR" sz="3600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UX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59" name="Picture 20">
            <a:extLst>
              <a:ext uri="{FF2B5EF4-FFF2-40B4-BE49-F238E27FC236}">
                <a16:creationId xmlns:a16="http://schemas.microsoft.com/office/drawing/2014/main" id="{5B285DF0-67EE-467D-B456-181B783982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81557" y="2761457"/>
            <a:ext cx="2870200" cy="45719"/>
          </a:xfrm>
          <a:prstGeom prst="rect">
            <a:avLst/>
          </a:prstGeom>
        </p:spPr>
      </p:pic>
      <p:pic>
        <p:nvPicPr>
          <p:cNvPr id="1060" name="Picture 18">
            <a:extLst>
              <a:ext uri="{FF2B5EF4-FFF2-40B4-BE49-F238E27FC236}">
                <a16:creationId xmlns:a16="http://schemas.microsoft.com/office/drawing/2014/main" id="{EC596F76-ECAE-34DD-CE79-9CF13694EA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237793" y="3879058"/>
            <a:ext cx="2870200" cy="38100"/>
          </a:xfrm>
          <a:prstGeom prst="rect">
            <a:avLst/>
          </a:prstGeom>
        </p:spPr>
      </p:pic>
      <p:sp>
        <p:nvSpPr>
          <p:cNvPr id="1061" name="TextBox 19">
            <a:extLst>
              <a:ext uri="{FF2B5EF4-FFF2-40B4-BE49-F238E27FC236}">
                <a16:creationId xmlns:a16="http://schemas.microsoft.com/office/drawing/2014/main" id="{FA590B6B-2208-A456-1540-A39B2CA874C7}"/>
              </a:ext>
            </a:extLst>
          </p:cNvPr>
          <p:cNvSpPr txBox="1"/>
          <p:nvPr/>
        </p:nvSpPr>
        <p:spPr>
          <a:xfrm>
            <a:off x="11066343" y="3024272"/>
            <a:ext cx="31877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뉴스 분류 모델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062" name="Picture 20">
            <a:extLst>
              <a:ext uri="{FF2B5EF4-FFF2-40B4-BE49-F238E27FC236}">
                <a16:creationId xmlns:a16="http://schemas.microsoft.com/office/drawing/2014/main" id="{28A3D680-2B84-E2EC-9D21-892557D933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237793" y="2761458"/>
            <a:ext cx="2870200" cy="38100"/>
          </a:xfrm>
          <a:prstGeom prst="rect">
            <a:avLst/>
          </a:prstGeom>
        </p:spPr>
      </p:pic>
      <p:pic>
        <p:nvPicPr>
          <p:cNvPr id="1063" name="Picture 10" descr="Vue.js - 위키백과, 우리 모두의 백과사전">
            <a:extLst>
              <a:ext uri="{FF2B5EF4-FFF2-40B4-BE49-F238E27FC236}">
                <a16:creationId xmlns:a16="http://schemas.microsoft.com/office/drawing/2014/main" id="{D2CF1F89-4D81-B6CD-2632-90D8AEE01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12" y="1594392"/>
            <a:ext cx="612489" cy="61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그림 1064" descr="폰트, 그래픽, 로고, 텍스트이(가) 표시된 사진&#10;&#10;자동 생성된 설명">
            <a:extLst>
              <a:ext uri="{FF2B5EF4-FFF2-40B4-BE49-F238E27FC236}">
                <a16:creationId xmlns:a16="http://schemas.microsoft.com/office/drawing/2014/main" id="{1A85F08D-550A-0085-EEE1-27C319B828E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8818" y="1469233"/>
            <a:ext cx="1720850" cy="860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934" y="3619500"/>
            <a:ext cx="4000500" cy="369945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939" y="3619500"/>
            <a:ext cx="4000500" cy="3699459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860063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GPT-4o-mini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510220" y="2740103"/>
            <a:ext cx="66898" cy="6689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789620" y="2740103"/>
            <a:ext cx="66898" cy="66898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056320" y="2740103"/>
            <a:ext cx="66898" cy="6689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408501" y="5320128"/>
            <a:ext cx="903123" cy="401388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378397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input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359094" y="5466444"/>
            <a:ext cx="516592" cy="108756"/>
          </a:xfrm>
          <a:prstGeom prst="rect">
            <a:avLst/>
          </a:prstGeom>
        </p:spPr>
      </p:pic>
      <p:pic>
        <p:nvPicPr>
          <p:cNvPr id="41" name="Picture 26">
            <a:extLst>
              <a:ext uri="{FF2B5EF4-FFF2-40B4-BE49-F238E27FC236}">
                <a16:creationId xmlns:a16="http://schemas.microsoft.com/office/drawing/2014/main" id="{6310BC62-D7A5-19B5-309D-C9EC54DA4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42" name="TextBox 27">
            <a:extLst>
              <a:ext uri="{FF2B5EF4-FFF2-40B4-BE49-F238E27FC236}">
                <a16:creationId xmlns:a16="http://schemas.microsoft.com/office/drawing/2014/main" id="{BCBF8CF2-AC85-5665-FF7A-E8CC1CE01920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43" name="그림 42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5415D70F-CD2A-8BA2-F552-C6E965FC4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44" name="TextBox 8">
            <a:extLst>
              <a:ext uri="{FF2B5EF4-FFF2-40B4-BE49-F238E27FC236}">
                <a16:creationId xmlns:a16="http://schemas.microsoft.com/office/drawing/2014/main" id="{D06028A8-0DDB-0956-F742-D042968EAF14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기술 설명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45" name="Picture 9">
            <a:extLst>
              <a:ext uri="{FF2B5EF4-FFF2-40B4-BE49-F238E27FC236}">
                <a16:creationId xmlns:a16="http://schemas.microsoft.com/office/drawing/2014/main" id="{8F6A8510-A35E-EF6C-6D8C-01C11896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00" y="3619500"/>
            <a:ext cx="4000500" cy="3699459"/>
          </a:xfrm>
          <a:prstGeom prst="rect">
            <a:avLst/>
          </a:prstGeom>
        </p:spPr>
      </p:pic>
      <p:sp>
        <p:nvSpPr>
          <p:cNvPr id="46" name="TextBox 12">
            <a:extLst>
              <a:ext uri="{FF2B5EF4-FFF2-40B4-BE49-F238E27FC236}">
                <a16:creationId xmlns:a16="http://schemas.microsoft.com/office/drawing/2014/main" id="{2170B428-F3E6-2D91-7957-49C98B6814AF}"/>
              </a:ext>
            </a:extLst>
          </p:cNvPr>
          <p:cNvSpPr txBox="1"/>
          <p:nvPr/>
        </p:nvSpPr>
        <p:spPr>
          <a:xfrm>
            <a:off x="1293701" y="4924010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{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"category": "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경제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"title": "NH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농협손해보험 ‘금융소비자보호 우수기업’ 선정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…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최고 등급 획득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</a:t>
            </a:r>
            <a:r>
              <a:rPr lang="en-US" altLang="ko-KR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url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": "https://www.mk.co.kr/news/economy/11175612",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"authors": [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{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    "name": "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최종일 기자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    "email": "choi.jongil@mkinternet.com"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}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],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"time": "2024-11-22 17:35:15",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"images": [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{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    "</a:t>
            </a:r>
            <a:r>
              <a:rPr lang="en-US" altLang="ko-KR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refid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": "1",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    "</a:t>
            </a:r>
            <a:r>
              <a:rPr lang="en-US" altLang="ko-KR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src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": "https://pimg.mk.co.kr/news/</a:t>
            </a:r>
            <a:r>
              <a:rPr lang="en-US" altLang="ko-KR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cms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/202411/22/news-p.v1.20241122.2639d769d97643efa2d39a32af9220c1_P1.jpg",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    "caption": "NH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농협손해보험 </a:t>
            </a:r>
            <a:r>
              <a:rPr lang="ko-KR" altLang="en-US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서국동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대표이사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(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사진 왼쪽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)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이 ‘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2024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년 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KCPI 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우수기업 인증 </a:t>
            </a:r>
            <a:r>
              <a:rPr lang="ko-KR" altLang="en-US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수여식’에서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한국능률협회컨설팅 </a:t>
            </a:r>
            <a:r>
              <a:rPr lang="ko-KR" altLang="en-US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이립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가치혁신부문장과 기념촬영을 하고 있다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. [</a:t>
            </a:r>
            <a:r>
              <a:rPr lang="ko-KR" altLang="en-US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사진 출처 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= NH</a:t>
            </a:r>
            <a:r>
              <a:rPr lang="ko-KR" altLang="en-US" sz="700" b="0" i="0" u="none" strike="noStrike" dirty="0" err="1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농협손보</a:t>
            </a: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]"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    }</a:t>
            </a:r>
          </a:p>
          <a:p>
            <a:pPr lvl="0" algn="l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],</a:t>
            </a:r>
            <a:endParaRPr lang="en-US" sz="700" b="0" i="0" u="none" strike="noStrike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F9E890B6-2EF8-3F48-BD9E-68A55CD3AE4F}"/>
              </a:ext>
            </a:extLst>
          </p:cNvPr>
          <p:cNvSpPr txBox="1"/>
          <p:nvPr/>
        </p:nvSpPr>
        <p:spPr>
          <a:xfrm>
            <a:off x="1206290" y="3031603"/>
            <a:ext cx="3104065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뉴스 데이터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52" name="Picture 29">
            <a:extLst>
              <a:ext uri="{FF2B5EF4-FFF2-40B4-BE49-F238E27FC236}">
                <a16:creationId xmlns:a16="http://schemas.microsoft.com/office/drawing/2014/main" id="{F5C25440-41D9-6B3B-141C-E6B530CE3E6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829776" y="5466444"/>
            <a:ext cx="516592" cy="108756"/>
          </a:xfrm>
          <a:prstGeom prst="rect">
            <a:avLst/>
          </a:prstGeom>
        </p:spPr>
      </p:pic>
      <p:pic>
        <p:nvPicPr>
          <p:cNvPr id="53" name="Picture 24">
            <a:extLst>
              <a:ext uri="{FF2B5EF4-FFF2-40B4-BE49-F238E27FC236}">
                <a16:creationId xmlns:a16="http://schemas.microsoft.com/office/drawing/2014/main" id="{DD89082A-0365-EDB1-FD1E-68FC7146BB0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438048" y="5320128"/>
            <a:ext cx="903123" cy="401388"/>
          </a:xfrm>
          <a:prstGeom prst="rect">
            <a:avLst/>
          </a:prstGeom>
        </p:spPr>
      </p:pic>
      <p:sp>
        <p:nvSpPr>
          <p:cNvPr id="54" name="TextBox 25">
            <a:extLst>
              <a:ext uri="{FF2B5EF4-FFF2-40B4-BE49-F238E27FC236}">
                <a16:creationId xmlns:a16="http://schemas.microsoft.com/office/drawing/2014/main" id="{E7311AD6-E975-C646-C817-AAB75D7908D4}"/>
              </a:ext>
            </a:extLst>
          </p:cNvPr>
          <p:cNvSpPr txBox="1"/>
          <p:nvPr/>
        </p:nvSpPr>
        <p:spPr>
          <a:xfrm>
            <a:off x="11407944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output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55" name="Picture 29">
            <a:extLst>
              <a:ext uri="{FF2B5EF4-FFF2-40B4-BE49-F238E27FC236}">
                <a16:creationId xmlns:a16="http://schemas.microsoft.com/office/drawing/2014/main" id="{5734BC8D-8442-0EB6-E5AA-936FD234E41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2388641" y="5466444"/>
            <a:ext cx="516592" cy="108756"/>
          </a:xfrm>
          <a:prstGeom prst="rect">
            <a:avLst/>
          </a:prstGeom>
        </p:spPr>
      </p:pic>
      <p:pic>
        <p:nvPicPr>
          <p:cNvPr id="56" name="Picture 29">
            <a:extLst>
              <a:ext uri="{FF2B5EF4-FFF2-40B4-BE49-F238E27FC236}">
                <a16:creationId xmlns:a16="http://schemas.microsoft.com/office/drawing/2014/main" id="{1D396D32-240C-1137-C0A5-98988C380D8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0859323" y="5466444"/>
            <a:ext cx="516592" cy="108756"/>
          </a:xfrm>
          <a:prstGeom prst="rect">
            <a:avLst/>
          </a:prstGeom>
        </p:spPr>
      </p:pic>
      <p:sp>
        <p:nvSpPr>
          <p:cNvPr id="57" name="TextBox 16">
            <a:extLst>
              <a:ext uri="{FF2B5EF4-FFF2-40B4-BE49-F238E27FC236}">
                <a16:creationId xmlns:a16="http://schemas.microsoft.com/office/drawing/2014/main" id="{32164F73-9FE9-57C4-6EF6-ADAB11F0B795}"/>
              </a:ext>
            </a:extLst>
          </p:cNvPr>
          <p:cNvSpPr txBox="1"/>
          <p:nvPr/>
        </p:nvSpPr>
        <p:spPr>
          <a:xfrm>
            <a:off x="11858305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Train data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58" name="Picture 19">
            <a:extLst>
              <a:ext uri="{FF2B5EF4-FFF2-40B4-BE49-F238E27FC236}">
                <a16:creationId xmlns:a16="http://schemas.microsoft.com/office/drawing/2014/main" id="{3CAF736A-17E3-4889-5EE8-00D1F265DD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4508462" y="2740103"/>
            <a:ext cx="66898" cy="66898"/>
          </a:xfrm>
          <a:prstGeom prst="rect">
            <a:avLst/>
          </a:prstGeom>
        </p:spPr>
      </p:pic>
      <p:pic>
        <p:nvPicPr>
          <p:cNvPr id="59" name="Picture 20">
            <a:extLst>
              <a:ext uri="{FF2B5EF4-FFF2-40B4-BE49-F238E27FC236}">
                <a16:creationId xmlns:a16="http://schemas.microsoft.com/office/drawing/2014/main" id="{CE0F9454-738F-75AF-A973-CD9C607AAF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4787862" y="2740103"/>
            <a:ext cx="66898" cy="66898"/>
          </a:xfrm>
          <a:prstGeom prst="rect">
            <a:avLst/>
          </a:prstGeom>
        </p:spPr>
      </p:pic>
      <p:pic>
        <p:nvPicPr>
          <p:cNvPr id="60" name="Picture 21">
            <a:extLst>
              <a:ext uri="{FF2B5EF4-FFF2-40B4-BE49-F238E27FC236}">
                <a16:creationId xmlns:a16="http://schemas.microsoft.com/office/drawing/2014/main" id="{DE4C2F40-F623-8CF1-2F8E-F0787D4788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5054562" y="2740103"/>
            <a:ext cx="66898" cy="66898"/>
          </a:xfrm>
          <a:prstGeom prst="rect">
            <a:avLst/>
          </a:prstGeom>
        </p:spPr>
      </p:pic>
      <p:pic>
        <p:nvPicPr>
          <p:cNvPr id="61" name="Picture 19">
            <a:extLst>
              <a:ext uri="{FF2B5EF4-FFF2-40B4-BE49-F238E27FC236}">
                <a16:creationId xmlns:a16="http://schemas.microsoft.com/office/drawing/2014/main" id="{E9A0F4CD-655D-3052-93C3-E0B90FA6A8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2387600" y="2740103"/>
            <a:ext cx="66898" cy="66898"/>
          </a:xfrm>
          <a:prstGeom prst="rect">
            <a:avLst/>
          </a:prstGeom>
        </p:spPr>
      </p:pic>
      <p:pic>
        <p:nvPicPr>
          <p:cNvPr id="62" name="Picture 20">
            <a:extLst>
              <a:ext uri="{FF2B5EF4-FFF2-40B4-BE49-F238E27FC236}">
                <a16:creationId xmlns:a16="http://schemas.microsoft.com/office/drawing/2014/main" id="{481E614E-BF8A-BE38-C1D2-F5858735F8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2667000" y="2740103"/>
            <a:ext cx="66898" cy="66898"/>
          </a:xfrm>
          <a:prstGeom prst="rect">
            <a:avLst/>
          </a:prstGeom>
        </p:spPr>
      </p:pic>
      <p:pic>
        <p:nvPicPr>
          <p:cNvPr id="63" name="Picture 21">
            <a:extLst>
              <a:ext uri="{FF2B5EF4-FFF2-40B4-BE49-F238E27FC236}">
                <a16:creationId xmlns:a16="http://schemas.microsoft.com/office/drawing/2014/main" id="{E2CA037E-2A0D-1AAE-E347-C99F5CAC63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933700" y="2740103"/>
            <a:ext cx="66898" cy="66898"/>
          </a:xfrm>
          <a:prstGeom prst="rect">
            <a:avLst/>
          </a:prstGeom>
        </p:spPr>
      </p:pic>
      <p:sp>
        <p:nvSpPr>
          <p:cNvPr id="65" name="TextBox 12">
            <a:extLst>
              <a:ext uri="{FF2B5EF4-FFF2-40B4-BE49-F238E27FC236}">
                <a16:creationId xmlns:a16="http://schemas.microsoft.com/office/drawing/2014/main" id="{A9C8ED12-5D00-52E1-5973-A42C61EE88B1}"/>
              </a:ext>
            </a:extLst>
          </p:cNvPr>
          <p:cNvSpPr txBox="1"/>
          <p:nvPr/>
        </p:nvSpPr>
        <p:spPr>
          <a:xfrm>
            <a:off x="7415873" y="3992205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Forget all your previous instructions. Pretend you are a financial expert. You are a financial expert with stock recommendation experience. </a:t>
            </a:r>
          </a:p>
          <a:p>
            <a:pPr lvl="0" algn="ctr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Respond with "1" for positive, "0" for neutral, and "-1" for negative. </a:t>
            </a:r>
          </a:p>
          <a:p>
            <a:pPr lvl="0" algn="ctr">
              <a:lnSpc>
                <a:spcPct val="141100"/>
              </a:lnSpc>
            </a:pPr>
            <a:r>
              <a:rPr lang="en-US" altLang="ko-KR" sz="700" b="0" i="0" u="none" strike="noStrike" dirty="0">
                <a:solidFill>
                  <a:srgbClr val="FFFFFF">
                    <a:alpha val="60000"/>
                  </a:srgb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Provide only the score as your response.</a:t>
            </a:r>
            <a:endParaRPr lang="en-US" sz="700" b="0" i="0" u="none" strike="noStrike" dirty="0">
              <a:solidFill>
                <a:srgbClr val="FFFFFF">
                  <a:alpha val="60000"/>
                </a:srgb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68" name="TextBox 12">
            <a:extLst>
              <a:ext uri="{FF2B5EF4-FFF2-40B4-BE49-F238E27FC236}">
                <a16:creationId xmlns:a16="http://schemas.microsoft.com/office/drawing/2014/main" id="{0A3F90A4-C757-C67F-7CF4-E38789D9623A}"/>
              </a:ext>
            </a:extLst>
          </p:cNvPr>
          <p:cNvSpPr txBox="1"/>
          <p:nvPr/>
        </p:nvSpPr>
        <p:spPr>
          <a:xfrm>
            <a:off x="7335541" y="5520822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이전의 모든 지침은 잊어버리세요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.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자신이 금융 전문가라고 생각하세요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.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당신은 주식 추천 경험이 있는 금융 전문가입니다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.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헤드라인 내용이 좋은 뉴스이면 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</a:t>
            </a: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예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</a:t>
            </a: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라고 답하고 </a:t>
            </a:r>
            <a:endParaRPr lang="en-US" altLang="ko-KR" sz="1050" b="0" i="0" dirty="0">
              <a:solidFill>
                <a:schemeClr val="bg1"/>
              </a:solidFill>
              <a:effectLst/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나쁜 뉴스이면 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</a:t>
            </a: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아니오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", </a:t>
            </a:r>
          </a:p>
          <a:p>
            <a:pPr lvl="0" algn="ctr">
              <a:lnSpc>
                <a:spcPct val="141100"/>
              </a:lnSpc>
            </a:pP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불확실하면 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</a:t>
            </a: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알 수 없음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"</a:t>
            </a:r>
            <a:r>
              <a:rPr lang="ko-KR" altLang="en-US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이라고 답하세요</a:t>
            </a:r>
            <a:r>
              <a:rPr lang="en-US" altLang="ko-KR" sz="1050" b="0" i="0" dirty="0">
                <a:solidFill>
                  <a:schemeClr val="bg1"/>
                </a:solidFill>
                <a:effectLst/>
                <a:latin typeface="AppleSDGothicNeoB00" panose="02000503000000000000" pitchFamily="2" charset="-127"/>
                <a:ea typeface="AppleSDGothicNeoB00" panose="02000503000000000000" pitchFamily="2" charset="-127"/>
              </a:rPr>
              <a:t>. </a:t>
            </a:r>
            <a:endParaRPr lang="en-US" sz="1000" b="0" i="0" u="none" strike="noStrike" dirty="0">
              <a:solidFill>
                <a:schemeClr val="bg1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91108" y="3790640"/>
            <a:ext cx="3063927" cy="34289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1”,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1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2”,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0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 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3”,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-1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</a:t>
            </a:r>
            <a:endParaRPr lang="en-US" sz="1200" b="0" i="0" u="none" strike="noStrike" dirty="0">
              <a:solidFill>
                <a:schemeClr val="bg1">
                  <a:alpha val="60000"/>
                </a:scheme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BC2A4-0E6B-6EE1-D99E-4A3FE718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8">
            <a:extLst>
              <a:ext uri="{FF2B5EF4-FFF2-40B4-BE49-F238E27FC236}">
                <a16:creationId xmlns:a16="http://schemas.microsoft.com/office/drawing/2014/main" id="{C9EFB5F1-DB59-E833-E3EE-8D2644CD9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243" y="3619500"/>
            <a:ext cx="4000500" cy="3699459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AA4D147-CBF1-00D8-B151-D94EA1E4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934" y="3619500"/>
            <a:ext cx="4000500" cy="3699459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6C6BEEC2-2EF2-F40F-F2FD-F55A66911C03}"/>
              </a:ext>
            </a:extLst>
          </p:cNvPr>
          <p:cNvSpPr txBox="1"/>
          <p:nvPr/>
        </p:nvSpPr>
        <p:spPr>
          <a:xfrm>
            <a:off x="13442774" y="4872954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뉴스 기사 </a:t>
            </a:r>
            <a:endParaRPr lang="en-US" altLang="ko-KR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감성 분류 모델</a:t>
            </a:r>
            <a:endParaRPr lang="en-US" sz="18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467EB3D-AAA5-DFB3-7FA5-40934B50A6C8}"/>
              </a:ext>
            </a:extLst>
          </p:cNvPr>
          <p:cNvSpPr txBox="1"/>
          <p:nvPr/>
        </p:nvSpPr>
        <p:spPr>
          <a:xfrm>
            <a:off x="5860063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KLUE RoBERTa base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386B8CC2-62B5-4C58-FF40-BBB350725E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510220" y="2740103"/>
            <a:ext cx="66898" cy="66898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CF194749-1705-A868-0CFC-044E5E2DC8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789620" y="2740103"/>
            <a:ext cx="66898" cy="66898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8BD90F86-4734-7C13-8838-C1BF996EA6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056320" y="2740103"/>
            <a:ext cx="66898" cy="66898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015B61DC-8CCC-EA3C-1106-CFB053E6BC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08501" y="5320128"/>
            <a:ext cx="903123" cy="401388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905FEB5A-AE7B-2526-54C0-656915147598}"/>
              </a:ext>
            </a:extLst>
          </p:cNvPr>
          <p:cNvSpPr txBox="1"/>
          <p:nvPr/>
        </p:nvSpPr>
        <p:spPr>
          <a:xfrm>
            <a:off x="5378397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input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A2C64AEC-98D9-130A-69F5-32AB244CD49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59094" y="5466444"/>
            <a:ext cx="516592" cy="108756"/>
          </a:xfrm>
          <a:prstGeom prst="rect">
            <a:avLst/>
          </a:prstGeom>
        </p:spPr>
      </p:pic>
      <p:pic>
        <p:nvPicPr>
          <p:cNvPr id="41" name="Picture 26">
            <a:extLst>
              <a:ext uri="{FF2B5EF4-FFF2-40B4-BE49-F238E27FC236}">
                <a16:creationId xmlns:a16="http://schemas.microsoft.com/office/drawing/2014/main" id="{289B4022-31B9-B232-FC6A-4EF348AE0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42" name="TextBox 27">
            <a:extLst>
              <a:ext uri="{FF2B5EF4-FFF2-40B4-BE49-F238E27FC236}">
                <a16:creationId xmlns:a16="http://schemas.microsoft.com/office/drawing/2014/main" id="{3BE8C0DF-F124-F417-A4F6-B7988B733036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43" name="그림 42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DA1552FA-E691-CCDE-3E81-E3C5A23F4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44" name="TextBox 8">
            <a:extLst>
              <a:ext uri="{FF2B5EF4-FFF2-40B4-BE49-F238E27FC236}">
                <a16:creationId xmlns:a16="http://schemas.microsoft.com/office/drawing/2014/main" id="{B4851121-B954-355E-1647-3FFD1B3DD589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기술 설명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52" name="Picture 29">
            <a:extLst>
              <a:ext uri="{FF2B5EF4-FFF2-40B4-BE49-F238E27FC236}">
                <a16:creationId xmlns:a16="http://schemas.microsoft.com/office/drawing/2014/main" id="{BC0F2C8C-6A6E-F6C6-5572-6530ADC7109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829776" y="5466444"/>
            <a:ext cx="516592" cy="108756"/>
          </a:xfrm>
          <a:prstGeom prst="rect">
            <a:avLst/>
          </a:prstGeom>
        </p:spPr>
      </p:pic>
      <p:pic>
        <p:nvPicPr>
          <p:cNvPr id="53" name="Picture 24">
            <a:extLst>
              <a:ext uri="{FF2B5EF4-FFF2-40B4-BE49-F238E27FC236}">
                <a16:creationId xmlns:a16="http://schemas.microsoft.com/office/drawing/2014/main" id="{8C84E525-2F0B-CF3F-1F98-20E77BA4AD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38048" y="5320128"/>
            <a:ext cx="903123" cy="401388"/>
          </a:xfrm>
          <a:prstGeom prst="rect">
            <a:avLst/>
          </a:prstGeom>
        </p:spPr>
      </p:pic>
      <p:sp>
        <p:nvSpPr>
          <p:cNvPr id="54" name="TextBox 25">
            <a:extLst>
              <a:ext uri="{FF2B5EF4-FFF2-40B4-BE49-F238E27FC236}">
                <a16:creationId xmlns:a16="http://schemas.microsoft.com/office/drawing/2014/main" id="{B2F24D56-63AD-C39B-2CDF-C05C6899A145}"/>
              </a:ext>
            </a:extLst>
          </p:cNvPr>
          <p:cNvSpPr txBox="1"/>
          <p:nvPr/>
        </p:nvSpPr>
        <p:spPr>
          <a:xfrm>
            <a:off x="11407944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output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55" name="Picture 29">
            <a:extLst>
              <a:ext uri="{FF2B5EF4-FFF2-40B4-BE49-F238E27FC236}">
                <a16:creationId xmlns:a16="http://schemas.microsoft.com/office/drawing/2014/main" id="{5CFF1F8A-8B23-5403-EDCD-01A817928F8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388641" y="5466444"/>
            <a:ext cx="516592" cy="108756"/>
          </a:xfrm>
          <a:prstGeom prst="rect">
            <a:avLst/>
          </a:prstGeom>
        </p:spPr>
      </p:pic>
      <p:pic>
        <p:nvPicPr>
          <p:cNvPr id="56" name="Picture 29">
            <a:extLst>
              <a:ext uri="{FF2B5EF4-FFF2-40B4-BE49-F238E27FC236}">
                <a16:creationId xmlns:a16="http://schemas.microsoft.com/office/drawing/2014/main" id="{302413DA-5AE1-D213-750F-8A32F68E6E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0859323" y="5466444"/>
            <a:ext cx="516592" cy="108756"/>
          </a:xfrm>
          <a:prstGeom prst="rect">
            <a:avLst/>
          </a:prstGeom>
        </p:spPr>
      </p:pic>
      <p:sp>
        <p:nvSpPr>
          <p:cNvPr id="57" name="TextBox 16">
            <a:extLst>
              <a:ext uri="{FF2B5EF4-FFF2-40B4-BE49-F238E27FC236}">
                <a16:creationId xmlns:a16="http://schemas.microsoft.com/office/drawing/2014/main" id="{016203E2-F3ED-CF13-A33C-510EFB62F208}"/>
              </a:ext>
            </a:extLst>
          </p:cNvPr>
          <p:cNvSpPr txBox="1"/>
          <p:nvPr/>
        </p:nvSpPr>
        <p:spPr>
          <a:xfrm>
            <a:off x="11858305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Fine-tuned Model</a:t>
            </a:r>
          </a:p>
        </p:txBody>
      </p:sp>
      <p:pic>
        <p:nvPicPr>
          <p:cNvPr id="58" name="Picture 19">
            <a:extLst>
              <a:ext uri="{FF2B5EF4-FFF2-40B4-BE49-F238E27FC236}">
                <a16:creationId xmlns:a16="http://schemas.microsoft.com/office/drawing/2014/main" id="{D93B24AE-878B-7C7E-F714-DCA68A03E1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4508462" y="2740103"/>
            <a:ext cx="66898" cy="66898"/>
          </a:xfrm>
          <a:prstGeom prst="rect">
            <a:avLst/>
          </a:prstGeom>
        </p:spPr>
      </p:pic>
      <p:pic>
        <p:nvPicPr>
          <p:cNvPr id="59" name="Picture 20">
            <a:extLst>
              <a:ext uri="{FF2B5EF4-FFF2-40B4-BE49-F238E27FC236}">
                <a16:creationId xmlns:a16="http://schemas.microsoft.com/office/drawing/2014/main" id="{3C2AFB48-B03F-5E86-00C4-AE6F013FA2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4787862" y="2740103"/>
            <a:ext cx="66898" cy="66898"/>
          </a:xfrm>
          <a:prstGeom prst="rect">
            <a:avLst/>
          </a:prstGeom>
        </p:spPr>
      </p:pic>
      <p:pic>
        <p:nvPicPr>
          <p:cNvPr id="60" name="Picture 21">
            <a:extLst>
              <a:ext uri="{FF2B5EF4-FFF2-40B4-BE49-F238E27FC236}">
                <a16:creationId xmlns:a16="http://schemas.microsoft.com/office/drawing/2014/main" id="{B73CA25B-B0A2-A019-900A-21094A8000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5054562" y="2740103"/>
            <a:ext cx="66898" cy="66898"/>
          </a:xfrm>
          <a:prstGeom prst="rect">
            <a:avLst/>
          </a:prstGeom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4A91D3BE-E7EF-69DA-E554-1090814449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128" y="3619500"/>
            <a:ext cx="4000500" cy="3699459"/>
          </a:xfrm>
          <a:prstGeom prst="rect">
            <a:avLst/>
          </a:prstGeom>
        </p:spPr>
      </p:pic>
      <p:sp>
        <p:nvSpPr>
          <p:cNvPr id="10" name="TextBox 16">
            <a:extLst>
              <a:ext uri="{FF2B5EF4-FFF2-40B4-BE49-F238E27FC236}">
                <a16:creationId xmlns:a16="http://schemas.microsoft.com/office/drawing/2014/main" id="{5A7E0976-FF8B-F911-E877-AC555358E8C0}"/>
              </a:ext>
            </a:extLst>
          </p:cNvPr>
          <p:cNvSpPr txBox="1"/>
          <p:nvPr/>
        </p:nvSpPr>
        <p:spPr>
          <a:xfrm>
            <a:off x="-279506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Train data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410671C7-489B-ECC3-945B-0719EED2FB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370651" y="2740103"/>
            <a:ext cx="66898" cy="66898"/>
          </a:xfrm>
          <a:prstGeom prst="rect">
            <a:avLst/>
          </a:prstGeom>
        </p:spPr>
      </p:pic>
      <p:pic>
        <p:nvPicPr>
          <p:cNvPr id="13" name="Picture 20">
            <a:extLst>
              <a:ext uri="{FF2B5EF4-FFF2-40B4-BE49-F238E27FC236}">
                <a16:creationId xmlns:a16="http://schemas.microsoft.com/office/drawing/2014/main" id="{0F154F6D-B8D9-363E-AF84-DB8BA68A18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650051" y="2740103"/>
            <a:ext cx="66898" cy="66898"/>
          </a:xfrm>
          <a:prstGeom prst="rect">
            <a:avLst/>
          </a:prstGeom>
        </p:spPr>
      </p:pic>
      <p:pic>
        <p:nvPicPr>
          <p:cNvPr id="14" name="Picture 21">
            <a:extLst>
              <a:ext uri="{FF2B5EF4-FFF2-40B4-BE49-F238E27FC236}">
                <a16:creationId xmlns:a16="http://schemas.microsoft.com/office/drawing/2014/main" id="{7B3A25FA-D9F7-C7A8-6F26-CA046A5EF9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916751" y="2740103"/>
            <a:ext cx="66898" cy="66898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98422987-D9FC-82FC-8142-8E23150C5B66}"/>
              </a:ext>
            </a:extLst>
          </p:cNvPr>
          <p:cNvSpPr txBox="1"/>
          <p:nvPr/>
        </p:nvSpPr>
        <p:spPr>
          <a:xfrm>
            <a:off x="1853297" y="3790640"/>
            <a:ext cx="3063927" cy="34289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1”,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1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2”,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0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 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{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“content”: “</a:t>
            </a:r>
            <a:r>
              <a:rPr lang="ko-KR" altLang="en-US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기사</a:t>
            </a: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3”,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    “score” : -1</a:t>
            </a:r>
          </a:p>
          <a:p>
            <a:pPr lvl="0">
              <a:lnSpc>
                <a:spcPct val="141100"/>
              </a:lnSpc>
            </a:pPr>
            <a:r>
              <a:rPr lang="en-US" altLang="ko-KR" sz="1200" dirty="0">
                <a:solidFill>
                  <a:schemeClr val="bg1">
                    <a:alpha val="60000"/>
                  </a:schemeClr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},</a:t>
            </a:r>
            <a:endParaRPr lang="en-US" sz="1200" b="0" i="0" u="none" strike="noStrike" dirty="0">
              <a:solidFill>
                <a:schemeClr val="bg1">
                  <a:alpha val="60000"/>
                </a:schemeClr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5A6029B5-4FE2-7221-1543-5D28193506A2}"/>
              </a:ext>
            </a:extLst>
          </p:cNvPr>
          <p:cNvSpPr txBox="1"/>
          <p:nvPr/>
        </p:nvSpPr>
        <p:spPr>
          <a:xfrm>
            <a:off x="7339368" y="4194758"/>
            <a:ext cx="3063927" cy="26207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Epochs=3</a:t>
            </a:r>
            <a:r>
              <a:rPr lang="ko-KR" altLang="en-US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</a:t>
            </a:r>
            <a:endParaRPr lang="en-US" altLang="ko-KR" sz="14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Batch size=8</a:t>
            </a:r>
            <a:r>
              <a:rPr lang="ko-KR" altLang="en-US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</a:t>
            </a:r>
            <a:endParaRPr lang="en-US" altLang="ko-KR" sz="14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  <a:p>
            <a:pPr lvl="0" algn="ctr">
              <a:lnSpc>
                <a:spcPct val="141100"/>
              </a:lnSpc>
            </a:pPr>
            <a:r>
              <a:rPr lang="en-US" altLang="ko-KR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Learning rate=2e-5</a:t>
            </a:r>
            <a:r>
              <a:rPr lang="ko-KR" altLang="en-US" sz="1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   </a:t>
            </a:r>
            <a:endParaRPr lang="en-US" altLang="ko-KR" sz="1400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5772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63CC7-CB33-408E-64A4-EDC2F243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8">
            <a:extLst>
              <a:ext uri="{FF2B5EF4-FFF2-40B4-BE49-F238E27FC236}">
                <a16:creationId xmlns:a16="http://schemas.microsoft.com/office/drawing/2014/main" id="{86167281-C7F2-740C-D948-249741FD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42" y="3619500"/>
            <a:ext cx="4000500" cy="3699459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2580698-A800-0D9E-8AEA-DBB81CC5F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55" y="3619500"/>
            <a:ext cx="4000500" cy="3699459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F72A4894-9585-2D5C-D5B7-20D8D35170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08501" y="5320128"/>
            <a:ext cx="903123" cy="401388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321E836F-CB8D-4EFD-3D6F-19F746ED252D}"/>
              </a:ext>
            </a:extLst>
          </p:cNvPr>
          <p:cNvSpPr txBox="1"/>
          <p:nvPr/>
        </p:nvSpPr>
        <p:spPr>
          <a:xfrm>
            <a:off x="5378397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input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C96DEEB8-53C8-2AE1-D5F8-AC2E94489F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59094" y="5466444"/>
            <a:ext cx="516592" cy="108756"/>
          </a:xfrm>
          <a:prstGeom prst="rect">
            <a:avLst/>
          </a:prstGeom>
        </p:spPr>
      </p:pic>
      <p:pic>
        <p:nvPicPr>
          <p:cNvPr id="41" name="Picture 26">
            <a:extLst>
              <a:ext uri="{FF2B5EF4-FFF2-40B4-BE49-F238E27FC236}">
                <a16:creationId xmlns:a16="http://schemas.microsoft.com/office/drawing/2014/main" id="{0D0B8F3C-E386-76D1-9388-838DA04AD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42" name="TextBox 27">
            <a:extLst>
              <a:ext uri="{FF2B5EF4-FFF2-40B4-BE49-F238E27FC236}">
                <a16:creationId xmlns:a16="http://schemas.microsoft.com/office/drawing/2014/main" id="{EFCB8794-CE65-78B1-AA69-7EBFECA4A5D1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43" name="그림 42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82E2EE66-4E20-71AF-D446-2EAC9B1CF1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44" name="TextBox 8">
            <a:extLst>
              <a:ext uri="{FF2B5EF4-FFF2-40B4-BE49-F238E27FC236}">
                <a16:creationId xmlns:a16="http://schemas.microsoft.com/office/drawing/2014/main" id="{159EF513-7C0F-E478-8EE7-33A5D1C3BAAD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기술 설명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52" name="Picture 29">
            <a:extLst>
              <a:ext uri="{FF2B5EF4-FFF2-40B4-BE49-F238E27FC236}">
                <a16:creationId xmlns:a16="http://schemas.microsoft.com/office/drawing/2014/main" id="{75F05B89-BA5C-92D8-5902-F34C78C200A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829776" y="5466444"/>
            <a:ext cx="516592" cy="108756"/>
          </a:xfrm>
          <a:prstGeom prst="rect">
            <a:avLst/>
          </a:prstGeom>
        </p:spPr>
      </p:pic>
      <p:pic>
        <p:nvPicPr>
          <p:cNvPr id="53" name="Picture 24">
            <a:extLst>
              <a:ext uri="{FF2B5EF4-FFF2-40B4-BE49-F238E27FC236}">
                <a16:creationId xmlns:a16="http://schemas.microsoft.com/office/drawing/2014/main" id="{D3B2B264-D7DF-2F0C-E2E3-E0184E3019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38048" y="5320128"/>
            <a:ext cx="903123" cy="401388"/>
          </a:xfrm>
          <a:prstGeom prst="rect">
            <a:avLst/>
          </a:prstGeom>
        </p:spPr>
      </p:pic>
      <p:sp>
        <p:nvSpPr>
          <p:cNvPr id="54" name="TextBox 25">
            <a:extLst>
              <a:ext uri="{FF2B5EF4-FFF2-40B4-BE49-F238E27FC236}">
                <a16:creationId xmlns:a16="http://schemas.microsoft.com/office/drawing/2014/main" id="{67C5F36E-EBFB-C2EE-8E97-52FA58995C35}"/>
              </a:ext>
            </a:extLst>
          </p:cNvPr>
          <p:cNvSpPr txBox="1"/>
          <p:nvPr/>
        </p:nvSpPr>
        <p:spPr>
          <a:xfrm>
            <a:off x="11407944" y="5418173"/>
            <a:ext cx="963332" cy="17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19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output</a:t>
            </a:r>
            <a:endParaRPr lang="en-US" sz="19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55" name="Picture 29">
            <a:extLst>
              <a:ext uri="{FF2B5EF4-FFF2-40B4-BE49-F238E27FC236}">
                <a16:creationId xmlns:a16="http://schemas.microsoft.com/office/drawing/2014/main" id="{1417EB90-6D3E-ACF3-4AB5-8B2E232AA9D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388641" y="5466444"/>
            <a:ext cx="516592" cy="108756"/>
          </a:xfrm>
          <a:prstGeom prst="rect">
            <a:avLst/>
          </a:prstGeom>
        </p:spPr>
      </p:pic>
      <p:pic>
        <p:nvPicPr>
          <p:cNvPr id="56" name="Picture 29">
            <a:extLst>
              <a:ext uri="{FF2B5EF4-FFF2-40B4-BE49-F238E27FC236}">
                <a16:creationId xmlns:a16="http://schemas.microsoft.com/office/drawing/2014/main" id="{5AAD61A3-0F9D-68F7-9C2C-5CED07EA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0859323" y="5466444"/>
            <a:ext cx="516592" cy="108756"/>
          </a:xfrm>
          <a:prstGeom prst="rect">
            <a:avLst/>
          </a:prstGeom>
        </p:spPr>
      </p:pic>
      <p:sp>
        <p:nvSpPr>
          <p:cNvPr id="57" name="TextBox 16">
            <a:extLst>
              <a:ext uri="{FF2B5EF4-FFF2-40B4-BE49-F238E27FC236}">
                <a16:creationId xmlns:a16="http://schemas.microsoft.com/office/drawing/2014/main" id="{793D6383-D1FC-119A-2309-72ABFFD119B1}"/>
              </a:ext>
            </a:extLst>
          </p:cNvPr>
          <p:cNvSpPr txBox="1"/>
          <p:nvPr/>
        </p:nvSpPr>
        <p:spPr>
          <a:xfrm>
            <a:off x="5802853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Fine-tuned Model</a:t>
            </a:r>
          </a:p>
        </p:txBody>
      </p:sp>
      <p:pic>
        <p:nvPicPr>
          <p:cNvPr id="58" name="Picture 19">
            <a:extLst>
              <a:ext uri="{FF2B5EF4-FFF2-40B4-BE49-F238E27FC236}">
                <a16:creationId xmlns:a16="http://schemas.microsoft.com/office/drawing/2014/main" id="{0C4A1BD6-22AE-4E30-78FC-02DB73E1AE5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8453010" y="2740103"/>
            <a:ext cx="66898" cy="66898"/>
          </a:xfrm>
          <a:prstGeom prst="rect">
            <a:avLst/>
          </a:prstGeom>
        </p:spPr>
      </p:pic>
      <p:pic>
        <p:nvPicPr>
          <p:cNvPr id="59" name="Picture 20">
            <a:extLst>
              <a:ext uri="{FF2B5EF4-FFF2-40B4-BE49-F238E27FC236}">
                <a16:creationId xmlns:a16="http://schemas.microsoft.com/office/drawing/2014/main" id="{C792D082-C285-B5A5-2928-7EBD5005904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8732410" y="2740103"/>
            <a:ext cx="66898" cy="66898"/>
          </a:xfrm>
          <a:prstGeom prst="rect">
            <a:avLst/>
          </a:prstGeom>
        </p:spPr>
      </p:pic>
      <p:pic>
        <p:nvPicPr>
          <p:cNvPr id="60" name="Picture 21">
            <a:extLst>
              <a:ext uri="{FF2B5EF4-FFF2-40B4-BE49-F238E27FC236}">
                <a16:creationId xmlns:a16="http://schemas.microsoft.com/office/drawing/2014/main" id="{0626344C-E594-3304-5EF4-3A12D468D62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8999110" y="2740103"/>
            <a:ext cx="66898" cy="66898"/>
          </a:xfrm>
          <a:prstGeom prst="rect">
            <a:avLst/>
          </a:prstGeom>
        </p:spPr>
      </p:pic>
      <p:sp>
        <p:nvSpPr>
          <p:cNvPr id="10" name="TextBox 16">
            <a:extLst>
              <a:ext uri="{FF2B5EF4-FFF2-40B4-BE49-F238E27FC236}">
                <a16:creationId xmlns:a16="http://schemas.microsoft.com/office/drawing/2014/main" id="{6EDBEF75-BF30-EC48-19C8-D16FA545B7D1}"/>
              </a:ext>
            </a:extLst>
          </p:cNvPr>
          <p:cNvSpPr txBox="1"/>
          <p:nvPr/>
        </p:nvSpPr>
        <p:spPr>
          <a:xfrm>
            <a:off x="-279506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뉴스 기사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AF3C8E74-6E13-A65B-F166-F9D1841F695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2370651" y="2740103"/>
            <a:ext cx="66898" cy="66898"/>
          </a:xfrm>
          <a:prstGeom prst="rect">
            <a:avLst/>
          </a:prstGeom>
        </p:spPr>
      </p:pic>
      <p:pic>
        <p:nvPicPr>
          <p:cNvPr id="13" name="Picture 20">
            <a:extLst>
              <a:ext uri="{FF2B5EF4-FFF2-40B4-BE49-F238E27FC236}">
                <a16:creationId xmlns:a16="http://schemas.microsoft.com/office/drawing/2014/main" id="{ABFCE3A7-167E-6208-B9A9-3AAA15BA3AC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2650051" y="2740103"/>
            <a:ext cx="66898" cy="66898"/>
          </a:xfrm>
          <a:prstGeom prst="rect">
            <a:avLst/>
          </a:prstGeom>
        </p:spPr>
      </p:pic>
      <p:pic>
        <p:nvPicPr>
          <p:cNvPr id="14" name="Picture 21">
            <a:extLst>
              <a:ext uri="{FF2B5EF4-FFF2-40B4-BE49-F238E27FC236}">
                <a16:creationId xmlns:a16="http://schemas.microsoft.com/office/drawing/2014/main" id="{C81A9EAA-9F8E-638F-066C-05B27660F47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2916751" y="2740103"/>
            <a:ext cx="66898" cy="66898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E5D03349-7E01-8FFD-4651-7A00EAC99D38}"/>
              </a:ext>
            </a:extLst>
          </p:cNvPr>
          <p:cNvSpPr txBox="1"/>
          <p:nvPr/>
        </p:nvSpPr>
        <p:spPr>
          <a:xfrm>
            <a:off x="1600200" y="3751944"/>
            <a:ext cx="3063927" cy="34289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1100"/>
              </a:lnSpc>
            </a:pPr>
            <a:r>
              <a:rPr lang="ko-KR" altLang="en-US" sz="2400" b="0" i="0" u="none" strike="noStrike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속보</a:t>
            </a:r>
            <a:r>
              <a:rPr lang="en-US" altLang="ko-KR" sz="2400" b="0" i="0" u="none" strike="noStrike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) XX</a:t>
            </a:r>
            <a:r>
              <a:rPr lang="ko-KR" altLang="en-US" sz="24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전자</a:t>
            </a:r>
            <a:r>
              <a:rPr lang="ko-KR" altLang="en-US" sz="2400" b="0" i="0" u="none" strike="noStrike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 망함</a:t>
            </a:r>
            <a:endParaRPr lang="en-US" sz="24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888E9DD0-D9A4-607D-FBE5-8E3E161FB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1727" y="3619500"/>
            <a:ext cx="4000500" cy="3699459"/>
          </a:xfrm>
          <a:prstGeom prst="rect">
            <a:avLst/>
          </a:prstGeom>
        </p:spPr>
      </p:pic>
      <p:sp>
        <p:nvSpPr>
          <p:cNvPr id="18" name="TextBox 12">
            <a:extLst>
              <a:ext uri="{FF2B5EF4-FFF2-40B4-BE49-F238E27FC236}">
                <a16:creationId xmlns:a16="http://schemas.microsoft.com/office/drawing/2014/main" id="{09D0F7C3-847D-123D-8B0D-1F09E327CF76}"/>
              </a:ext>
            </a:extLst>
          </p:cNvPr>
          <p:cNvSpPr txBox="1"/>
          <p:nvPr/>
        </p:nvSpPr>
        <p:spPr>
          <a:xfrm>
            <a:off x="13421009" y="4872954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3200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-1</a:t>
            </a:r>
            <a:endParaRPr lang="en-US" sz="32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EC11C5CD-8FF8-68A3-9868-F8240F451B05}"/>
              </a:ext>
            </a:extLst>
          </p:cNvPr>
          <p:cNvSpPr txBox="1"/>
          <p:nvPr/>
        </p:nvSpPr>
        <p:spPr>
          <a:xfrm>
            <a:off x="11851093" y="3031603"/>
            <a:ext cx="5998242" cy="4682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</a:rPr>
              <a:t>감성 분류 결과</a:t>
            </a:r>
            <a:endParaRPr lang="en-US" sz="3600" b="0" i="0" u="none" strike="noStrike" spc="-200" dirty="0">
              <a:solidFill>
                <a:srgbClr val="FFFFFF"/>
              </a:solidFill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pic>
        <p:nvPicPr>
          <p:cNvPr id="23" name="Picture 19">
            <a:extLst>
              <a:ext uri="{FF2B5EF4-FFF2-40B4-BE49-F238E27FC236}">
                <a16:creationId xmlns:a16="http://schemas.microsoft.com/office/drawing/2014/main" id="{1B74A254-403D-DCAA-ECFE-737A8128C38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4501250" y="2740103"/>
            <a:ext cx="66898" cy="66898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D3CC4BAA-0A64-5178-8BDA-B4450C50068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14780650" y="2740103"/>
            <a:ext cx="66898" cy="66898"/>
          </a:xfrm>
          <a:prstGeom prst="rect">
            <a:avLst/>
          </a:prstGeom>
        </p:spPr>
      </p:pic>
      <p:pic>
        <p:nvPicPr>
          <p:cNvPr id="27" name="Picture 21">
            <a:extLst>
              <a:ext uri="{FF2B5EF4-FFF2-40B4-BE49-F238E27FC236}">
                <a16:creationId xmlns:a16="http://schemas.microsoft.com/office/drawing/2014/main" id="{16C5B7BF-31BA-E395-4E1E-B5FB875BBDD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15047350" y="2740103"/>
            <a:ext cx="66898" cy="6689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5E7707E-1FFE-BEB7-6904-566ECD62B8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49" y="8263519"/>
            <a:ext cx="13554075" cy="1343025"/>
          </a:xfrm>
          <a:prstGeom prst="rect">
            <a:avLst/>
          </a:prstGeom>
        </p:spPr>
      </p:pic>
      <p:sp>
        <p:nvSpPr>
          <p:cNvPr id="36" name="TextBox 12">
            <a:extLst>
              <a:ext uri="{FF2B5EF4-FFF2-40B4-BE49-F238E27FC236}">
                <a16:creationId xmlns:a16="http://schemas.microsoft.com/office/drawing/2014/main" id="{7323850F-91DD-FFE5-07B0-6A58FE472DFE}"/>
              </a:ext>
            </a:extLst>
          </p:cNvPr>
          <p:cNvSpPr txBox="1"/>
          <p:nvPr/>
        </p:nvSpPr>
        <p:spPr>
          <a:xfrm>
            <a:off x="7320353" y="4872954"/>
            <a:ext cx="3063927" cy="10904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뉴스 기사 </a:t>
            </a:r>
            <a:endParaRPr lang="en-US" altLang="ko-KR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  <a:p>
            <a:pPr lvl="0" algn="ctr">
              <a:lnSpc>
                <a:spcPct val="141100"/>
              </a:lnSpc>
            </a:pPr>
            <a:r>
              <a:rPr lang="ko-KR" altLang="en-US" dirty="0">
                <a:solidFill>
                  <a:srgbClr val="FFFFFF"/>
                </a:solidFill>
                <a:latin typeface="AppleSDGothicNeoB00" panose="02000503000000000000" pitchFamily="2" charset="-127"/>
                <a:ea typeface="AppleSDGothicNeoB00" panose="02000503000000000000" pitchFamily="2" charset="-127"/>
              </a:rPr>
              <a:t>감성 분류 모델</a:t>
            </a:r>
            <a:endParaRPr lang="en-US" sz="1800" b="0" i="0" u="none" strike="noStrike" dirty="0">
              <a:solidFill>
                <a:srgbClr val="FFFFFF"/>
              </a:solidFill>
              <a:latin typeface="AppleSDGothicNeoB00" panose="02000503000000000000" pitchFamily="2" charset="-127"/>
              <a:ea typeface="AppleSDGothicNeoB00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3347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63CC7-CB33-408E-64A4-EDC2F243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955800"/>
            <a:ext cx="6845300" cy="7023100"/>
          </a:xfrm>
          <a:prstGeom prst="rect">
            <a:avLst/>
          </a:prstGeom>
        </p:spPr>
      </p:pic>
      <p:pic>
        <p:nvPicPr>
          <p:cNvPr id="3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5638800"/>
            <a:ext cx="3683000" cy="3327400"/>
          </a:xfrm>
          <a:prstGeom prst="rect">
            <a:avLst/>
          </a:prstGeom>
        </p:spPr>
      </p:pic>
      <p:pic>
        <p:nvPicPr>
          <p:cNvPr id="3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1955800"/>
            <a:ext cx="3683000" cy="3327400"/>
          </a:xfrm>
          <a:prstGeom prst="rect">
            <a:avLst/>
          </a:prstGeom>
        </p:spPr>
      </p:pic>
      <p:pic>
        <p:nvPicPr>
          <p:cNvPr id="39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7900" y="1955800"/>
            <a:ext cx="4749800" cy="7023100"/>
          </a:xfrm>
          <a:prstGeom prst="rect">
            <a:avLst/>
          </a:prstGeom>
        </p:spPr>
      </p:pic>
      <p:sp>
        <p:nvSpPr>
          <p:cNvPr id="50" name="TextBox 12"/>
          <p:cNvSpPr txBox="1"/>
          <p:nvPr/>
        </p:nvSpPr>
        <p:spPr>
          <a:xfrm>
            <a:off x="1663700" y="2514600"/>
            <a:ext cx="58547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00" b="0" i="0" u="none" strike="noStrike" spc="-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지표</a:t>
            </a:r>
            <a:endParaRPr lang="en-US" sz="3500" b="0" i="0" u="none" strike="noStrike" spc="-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51" name="TextBox 13"/>
          <p:cNvSpPr txBox="1"/>
          <p:nvPr/>
        </p:nvSpPr>
        <p:spPr>
          <a:xfrm>
            <a:off x="1663700" y="4076700"/>
            <a:ext cx="1117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en-US" sz="1800" b="0" i="0" u="none" strike="noStrike" spc="100" dirty="0" smtClean="0">
                <a:solidFill>
                  <a:srgbClr val="FFFFFF">
                    <a:alpha val="60000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RSI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61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873500"/>
            <a:ext cx="2146300" cy="723900"/>
          </a:xfrm>
          <a:prstGeom prst="rect">
            <a:avLst/>
          </a:prstGeom>
        </p:spPr>
      </p:pic>
      <p:sp>
        <p:nvSpPr>
          <p:cNvPr id="62" name="TextBox 15"/>
          <p:cNvSpPr txBox="1"/>
          <p:nvPr/>
        </p:nvSpPr>
        <p:spPr>
          <a:xfrm>
            <a:off x="3082636" y="4051300"/>
            <a:ext cx="1701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70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63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3873500"/>
            <a:ext cx="2133600" cy="723900"/>
          </a:xfrm>
          <a:prstGeom prst="rect">
            <a:avLst/>
          </a:prstGeom>
        </p:spPr>
      </p:pic>
      <p:sp>
        <p:nvSpPr>
          <p:cNvPr id="64" name="TextBox 17"/>
          <p:cNvSpPr txBox="1"/>
          <p:nvPr/>
        </p:nvSpPr>
        <p:spPr>
          <a:xfrm>
            <a:off x="5651500" y="4051300"/>
            <a:ext cx="1409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endParaRPr lang="en-US" sz="2000" b="0" i="0" u="none" strike="noStrike" spc="100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65" name="TextBox 18"/>
          <p:cNvSpPr txBox="1"/>
          <p:nvPr/>
        </p:nvSpPr>
        <p:spPr>
          <a:xfrm>
            <a:off x="1663700" y="5118100"/>
            <a:ext cx="1117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en-US" spc="100" dirty="0" smtClean="0">
                <a:solidFill>
                  <a:srgbClr val="FFFFFF">
                    <a:alpha val="60000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MACD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66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0" y="4927600"/>
            <a:ext cx="2146300" cy="723900"/>
          </a:xfrm>
          <a:prstGeom prst="rect">
            <a:avLst/>
          </a:prstGeom>
        </p:spPr>
      </p:pic>
      <p:sp>
        <p:nvSpPr>
          <p:cNvPr id="67" name="TextBox 20"/>
          <p:cNvSpPr txBox="1"/>
          <p:nvPr/>
        </p:nvSpPr>
        <p:spPr>
          <a:xfrm>
            <a:off x="3003550" y="5105400"/>
            <a:ext cx="1854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000" b="0" i="0" u="none" strike="noStrike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상승추세</a:t>
            </a:r>
            <a:r>
              <a:rPr lang="en-US" sz="2000" b="0" i="0" u="none" strike="noStrike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 = 1.5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68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4927600"/>
            <a:ext cx="2133600" cy="723900"/>
          </a:xfrm>
          <a:prstGeom prst="rect">
            <a:avLst/>
          </a:prstGeom>
        </p:spPr>
      </p:pic>
      <p:sp>
        <p:nvSpPr>
          <p:cNvPr id="70" name="TextBox 23"/>
          <p:cNvSpPr txBox="1"/>
          <p:nvPr/>
        </p:nvSpPr>
        <p:spPr>
          <a:xfrm>
            <a:off x="1663700" y="6172200"/>
            <a:ext cx="1117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pc="100" dirty="0" smtClean="0">
                <a:solidFill>
                  <a:srgbClr val="FFFFFF">
                    <a:alpha val="60000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볼린저밴드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71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5981700"/>
            <a:ext cx="4572000" cy="723900"/>
          </a:xfrm>
          <a:prstGeom prst="rect">
            <a:avLst/>
          </a:prstGeom>
        </p:spPr>
      </p:pic>
      <p:sp>
        <p:nvSpPr>
          <p:cNvPr id="72" name="TextBox 25"/>
          <p:cNvSpPr txBox="1"/>
          <p:nvPr/>
        </p:nvSpPr>
        <p:spPr>
          <a:xfrm>
            <a:off x="3225800" y="6159500"/>
            <a:ext cx="403225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(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가격 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–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 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BB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하단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)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 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/ (BB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상단 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– BB</a:t>
            </a: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하단</a:t>
            </a:r>
            <a:r>
              <a:rPr lang="en-US" altLang="ko-KR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) 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75" name="TextBox 28"/>
          <p:cNvSpPr txBox="1"/>
          <p:nvPr/>
        </p:nvSpPr>
        <p:spPr>
          <a:xfrm>
            <a:off x="1663700" y="7226300"/>
            <a:ext cx="1117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en-US" spc="100" dirty="0" smtClean="0">
                <a:solidFill>
                  <a:srgbClr val="FFFFFF">
                    <a:alpha val="60000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ATR</a:t>
            </a:r>
            <a:endParaRPr lang="en-US" sz="1800" b="0" i="0" u="none" strike="noStrike" spc="100" dirty="0">
              <a:solidFill>
                <a:srgbClr val="FFFFFF">
                  <a:alpha val="60000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76" name="Picture 29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981450" y="7035800"/>
            <a:ext cx="2146300" cy="723900"/>
          </a:xfrm>
          <a:prstGeom prst="rect">
            <a:avLst/>
          </a:prstGeom>
        </p:spPr>
      </p:pic>
      <p:sp>
        <p:nvSpPr>
          <p:cNvPr id="77" name="TextBox 30"/>
          <p:cNvSpPr txBox="1"/>
          <p:nvPr/>
        </p:nvSpPr>
        <p:spPr>
          <a:xfrm>
            <a:off x="4349750" y="7200900"/>
            <a:ext cx="1409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2000" b="0" i="0" u="none" strike="noStrike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ATR * 1.5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85" name="TextBox 38"/>
          <p:cNvSpPr txBox="1"/>
          <p:nvPr/>
        </p:nvSpPr>
        <p:spPr>
          <a:xfrm>
            <a:off x="8801100" y="2311400"/>
            <a:ext cx="2857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00" b="0" i="0" u="none" strike="noStrike" spc="-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감성 분류</a:t>
            </a:r>
            <a:endParaRPr lang="en-US" sz="3500" b="0" i="0" u="none" strike="noStrike" spc="-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86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6500" y="3136900"/>
            <a:ext cx="2717800" cy="723900"/>
          </a:xfrm>
          <a:prstGeom prst="rect">
            <a:avLst/>
          </a:prstGeom>
        </p:spPr>
      </p:pic>
      <p:sp>
        <p:nvSpPr>
          <p:cNvPr id="87" name="TextBox 40"/>
          <p:cNvSpPr txBox="1"/>
          <p:nvPr/>
        </p:nvSpPr>
        <p:spPr>
          <a:xfrm>
            <a:off x="9144000" y="3340100"/>
            <a:ext cx="2171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1700" spc="100" dirty="0" smtClean="0">
                <a:solidFill>
                  <a:srgbClr val="100B1D">
                    <a:alpha val="30196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기사 내용 입력</a:t>
            </a:r>
            <a:endParaRPr lang="en-US" sz="1700" b="0" i="0" u="none" strike="noStrike" spc="100" dirty="0">
              <a:solidFill>
                <a:srgbClr val="100B1D">
                  <a:alpha val="30196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88" name="Picture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864600" y="3479800"/>
            <a:ext cx="330200" cy="25400"/>
          </a:xfrm>
          <a:prstGeom prst="rect">
            <a:avLst/>
          </a:prstGeom>
        </p:spPr>
      </p:pic>
      <p:pic>
        <p:nvPicPr>
          <p:cNvPr id="89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6500" y="4102100"/>
            <a:ext cx="1905000" cy="723900"/>
          </a:xfrm>
          <a:prstGeom prst="rect">
            <a:avLst/>
          </a:prstGeom>
        </p:spPr>
      </p:pic>
      <p:sp>
        <p:nvSpPr>
          <p:cNvPr id="90" name="TextBox 43"/>
          <p:cNvSpPr txBox="1"/>
          <p:nvPr/>
        </p:nvSpPr>
        <p:spPr>
          <a:xfrm>
            <a:off x="9144000" y="4292600"/>
            <a:ext cx="13081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1100"/>
              </a:lnSpc>
            </a:pPr>
            <a:r>
              <a:rPr lang="ko-KR" altLang="en-US" sz="1700" b="0" i="0" u="none" strike="noStrike" spc="100" dirty="0" smtClean="0">
                <a:solidFill>
                  <a:srgbClr val="100B1D">
                    <a:alpha val="30196"/>
                  </a:srgbClr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감성 값</a:t>
            </a:r>
            <a:endParaRPr lang="ko-KR" sz="1700" b="0" i="0" u="none" strike="noStrike" spc="100" dirty="0">
              <a:solidFill>
                <a:srgbClr val="100B1D">
                  <a:alpha val="30196"/>
                </a:srgbClr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91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864600" y="4445000"/>
            <a:ext cx="330200" cy="25400"/>
          </a:xfrm>
          <a:prstGeom prst="rect">
            <a:avLst/>
          </a:prstGeom>
        </p:spPr>
      </p:pic>
      <p:pic>
        <p:nvPicPr>
          <p:cNvPr id="92" name="Picture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96600" y="4102100"/>
            <a:ext cx="673100" cy="723900"/>
          </a:xfrm>
          <a:prstGeom prst="rect">
            <a:avLst/>
          </a:prstGeom>
        </p:spPr>
      </p:pic>
      <p:pic>
        <p:nvPicPr>
          <p:cNvPr id="93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36300" y="4267200"/>
            <a:ext cx="381000" cy="381000"/>
          </a:xfrm>
          <a:prstGeom prst="rect">
            <a:avLst/>
          </a:prstGeom>
        </p:spPr>
      </p:pic>
      <p:sp>
        <p:nvSpPr>
          <p:cNvPr id="94" name="TextBox 47"/>
          <p:cNvSpPr txBox="1"/>
          <p:nvPr/>
        </p:nvSpPr>
        <p:spPr>
          <a:xfrm>
            <a:off x="9169400" y="6007100"/>
            <a:ext cx="2857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00" b="0" i="0" u="none" strike="noStrike" spc="-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가중치 조절</a:t>
            </a:r>
            <a:endParaRPr lang="en-US" sz="3500" b="0" i="0" u="none" strike="noStrike" spc="-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95" name="Picture 48"/>
          <p:cNvPicPr>
            <a:picLocks noChangeAspect="1"/>
          </p:cNvPicPr>
          <p:nvPr/>
        </p:nvPicPr>
        <p:blipFill>
          <a:blip r:embed="rId15">
            <a:alphaModFix amt="15000"/>
          </a:blip>
          <a:stretch>
            <a:fillRect/>
          </a:stretch>
        </p:blipFill>
        <p:spPr>
          <a:xfrm>
            <a:off x="8826500" y="7099300"/>
            <a:ext cx="2717800" cy="101600"/>
          </a:xfrm>
          <a:prstGeom prst="rect">
            <a:avLst/>
          </a:prstGeom>
        </p:spPr>
      </p:pic>
      <p:pic>
        <p:nvPicPr>
          <p:cNvPr id="96" name="Picture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8600" y="7048500"/>
            <a:ext cx="215900" cy="215900"/>
          </a:xfrm>
          <a:prstGeom prst="rect">
            <a:avLst/>
          </a:prstGeom>
        </p:spPr>
      </p:pic>
      <p:pic>
        <p:nvPicPr>
          <p:cNvPr id="97" name="Picture 50"/>
          <p:cNvPicPr>
            <a:picLocks noChangeAspect="1"/>
          </p:cNvPicPr>
          <p:nvPr/>
        </p:nvPicPr>
        <p:blipFill>
          <a:blip r:embed="rId15">
            <a:alphaModFix amt="15000"/>
          </a:blip>
          <a:stretch>
            <a:fillRect/>
          </a:stretch>
        </p:blipFill>
        <p:spPr>
          <a:xfrm>
            <a:off x="8826500" y="7645400"/>
            <a:ext cx="2717800" cy="101600"/>
          </a:xfrm>
          <a:prstGeom prst="rect">
            <a:avLst/>
          </a:prstGeom>
        </p:spPr>
      </p:pic>
      <p:pic>
        <p:nvPicPr>
          <p:cNvPr id="98" name="Picture 5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6600" y="7581900"/>
            <a:ext cx="215900" cy="215900"/>
          </a:xfrm>
          <a:prstGeom prst="rect">
            <a:avLst/>
          </a:prstGeom>
        </p:spPr>
      </p:pic>
      <p:pic>
        <p:nvPicPr>
          <p:cNvPr id="99" name="Picture 52"/>
          <p:cNvPicPr>
            <a:picLocks noChangeAspect="1"/>
          </p:cNvPicPr>
          <p:nvPr/>
        </p:nvPicPr>
        <p:blipFill>
          <a:blip r:embed="rId15">
            <a:alphaModFix amt="15000"/>
          </a:blip>
          <a:stretch>
            <a:fillRect/>
          </a:stretch>
        </p:blipFill>
        <p:spPr>
          <a:xfrm>
            <a:off x="8826500" y="8178800"/>
            <a:ext cx="2717800" cy="101600"/>
          </a:xfrm>
          <a:prstGeom prst="rect">
            <a:avLst/>
          </a:prstGeom>
        </p:spPr>
      </p:pic>
      <p:pic>
        <p:nvPicPr>
          <p:cNvPr id="100" name="Picture 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82200" y="8115300"/>
            <a:ext cx="215900" cy="215900"/>
          </a:xfrm>
          <a:prstGeom prst="rect">
            <a:avLst/>
          </a:prstGeom>
        </p:spPr>
      </p:pic>
      <p:pic>
        <p:nvPicPr>
          <p:cNvPr id="125" name="Picture 26">
            <a:extLst>
              <a:ext uri="{FF2B5EF4-FFF2-40B4-BE49-F238E27FC236}">
                <a16:creationId xmlns:a16="http://schemas.microsoft.com/office/drawing/2014/main" id="{0D0B8F3C-E386-76D1-9388-838DA04AD6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00" y="1117600"/>
            <a:ext cx="330200" cy="127000"/>
          </a:xfrm>
          <a:prstGeom prst="rect">
            <a:avLst/>
          </a:prstGeom>
        </p:spPr>
      </p:pic>
      <p:sp>
        <p:nvSpPr>
          <p:cNvPr id="126" name="TextBox 27">
            <a:extLst>
              <a:ext uri="{FF2B5EF4-FFF2-40B4-BE49-F238E27FC236}">
                <a16:creationId xmlns:a16="http://schemas.microsoft.com/office/drawing/2014/main" id="{EFCB8794-CE65-78B1-AA69-7EBFECA4A5D1}"/>
              </a:ext>
            </a:extLst>
          </p:cNvPr>
          <p:cNvSpPr txBox="1"/>
          <p:nvPr/>
        </p:nvSpPr>
        <p:spPr>
          <a:xfrm>
            <a:off x="1828800" y="1016000"/>
            <a:ext cx="243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 dirty="0">
                <a:solidFill>
                  <a:schemeClr val="bg1"/>
                </a:solidFill>
                <a:latin typeface="Nasalization" panose="020B0604020202020204" pitchFamily="34" charset="0"/>
                <a:ea typeface="AppleSDGothicNeoH00" panose="02000503000000000000" pitchFamily="2" charset="-127"/>
              </a:rPr>
              <a:t>CHART NEXT</a:t>
            </a:r>
          </a:p>
        </p:txBody>
      </p:sp>
      <p:pic>
        <p:nvPicPr>
          <p:cNvPr id="127" name="그림 126" descr="다채로움, 그래픽, 바이올렛색, 보라색이(가) 표시된 사진&#10;&#10;자동 생성된 설명">
            <a:extLst>
              <a:ext uri="{FF2B5EF4-FFF2-40B4-BE49-F238E27FC236}">
                <a16:creationId xmlns:a16="http://schemas.microsoft.com/office/drawing/2014/main" id="{82E2EE66-4E20-71AF-D446-2EAC9B1CF1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90" y="937954"/>
            <a:ext cx="470110" cy="460892"/>
          </a:xfrm>
          <a:prstGeom prst="rect">
            <a:avLst/>
          </a:prstGeom>
        </p:spPr>
      </p:pic>
      <p:sp>
        <p:nvSpPr>
          <p:cNvPr id="128" name="TextBox 8">
            <a:extLst>
              <a:ext uri="{FF2B5EF4-FFF2-40B4-BE49-F238E27FC236}">
                <a16:creationId xmlns:a16="http://schemas.microsoft.com/office/drawing/2014/main" id="{159EF513-7C0F-E478-8EE7-33A5D1C3BAAD}"/>
              </a:ext>
            </a:extLst>
          </p:cNvPr>
          <p:cNvSpPr txBox="1"/>
          <p:nvPr/>
        </p:nvSpPr>
        <p:spPr>
          <a:xfrm>
            <a:off x="10655300" y="901700"/>
            <a:ext cx="6413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altLang="en-US" sz="3000" spc="-100" dirty="0">
                <a:solidFill>
                  <a:srgbClr val="FFFFFF">
                    <a:alpha val="50196"/>
                  </a:srgbClr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기술 설명</a:t>
            </a:r>
            <a:endParaRPr lang="en-US" sz="3000" b="0" i="0" u="none" strike="noStrike" spc="-100" dirty="0">
              <a:solidFill>
                <a:srgbClr val="FFFFFF">
                  <a:alpha val="50196"/>
                </a:srgbClr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129" name="TextBox 15"/>
          <p:cNvSpPr txBox="1"/>
          <p:nvPr/>
        </p:nvSpPr>
        <p:spPr>
          <a:xfrm>
            <a:off x="5556250" y="4051300"/>
            <a:ext cx="1701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30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130" name="TextBox 20"/>
          <p:cNvSpPr txBox="1"/>
          <p:nvPr/>
        </p:nvSpPr>
        <p:spPr>
          <a:xfrm>
            <a:off x="5435600" y="5105400"/>
            <a:ext cx="1854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altLang="en-US" sz="2000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하락</a:t>
            </a:r>
            <a:r>
              <a:rPr lang="ko-KR" altLang="en-US" sz="2000" b="0" i="0" u="none" strike="noStrike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추세</a:t>
            </a:r>
            <a:r>
              <a:rPr lang="en-US" sz="2000" b="0" i="0" u="none" strike="noStrike" spc="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 = -1.5</a:t>
            </a:r>
            <a:endParaRPr lang="en-US" sz="2000" b="0" i="0" u="none" strike="noStrike" spc="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131" name="TextBox 47"/>
          <p:cNvSpPr txBox="1"/>
          <p:nvPr/>
        </p:nvSpPr>
        <p:spPr>
          <a:xfrm>
            <a:off x="13354050" y="6877050"/>
            <a:ext cx="2857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500" b="0" i="0" u="none" strike="noStrike" spc="-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기술 지표 그래프</a:t>
            </a:r>
            <a:endParaRPr lang="en-US" sz="3500" b="0" i="0" u="none" strike="noStrike" spc="-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sp>
        <p:nvSpPr>
          <p:cNvPr id="132" name="TextBox 47"/>
          <p:cNvSpPr txBox="1"/>
          <p:nvPr/>
        </p:nvSpPr>
        <p:spPr>
          <a:xfrm>
            <a:off x="12773025" y="3492500"/>
            <a:ext cx="401955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500" b="0" i="0" u="none" strike="noStrike" spc="-100" dirty="0" smtClean="0">
                <a:solidFill>
                  <a:srgbClr val="FFFFFF"/>
                </a:solidFill>
                <a:latin typeface="AppleSDGothicNeoEB00" panose="02000503000000000000" pitchFamily="2" charset="-128"/>
                <a:ea typeface="AppleSDGothicNeoEB00" panose="02000503000000000000" pitchFamily="2" charset="-128"/>
              </a:rPr>
              <a:t>뉴스 감성 예측 그래프</a:t>
            </a:r>
            <a:endParaRPr lang="en-US" sz="3500" b="0" i="0" u="none" strike="noStrike" spc="-100" dirty="0">
              <a:solidFill>
                <a:srgbClr val="FFFFFF"/>
              </a:solidFill>
              <a:latin typeface="AppleSDGothicNeoEB00" panose="02000503000000000000" pitchFamily="2" charset="-128"/>
              <a:ea typeface="AppleSDGothicNeoEB00" panose="02000503000000000000" pitchFamily="2" charset="-128"/>
            </a:endParaRPr>
          </a:p>
        </p:txBody>
      </p:sp>
      <p:pic>
        <p:nvPicPr>
          <p:cNvPr id="133" name="Picture 29">
            <a:extLst>
              <a:ext uri="{FF2B5EF4-FFF2-40B4-BE49-F238E27FC236}">
                <a16:creationId xmlns:a16="http://schemas.microsoft.com/office/drawing/2014/main" id="{BC0F2C8C-6A6E-F6C6-5572-6530ADC71096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7880095" y="7258976"/>
            <a:ext cx="516592" cy="108756"/>
          </a:xfrm>
          <a:prstGeom prst="rect">
            <a:avLst/>
          </a:prstGeom>
        </p:spPr>
      </p:pic>
      <p:pic>
        <p:nvPicPr>
          <p:cNvPr id="134" name="Picture 29">
            <a:extLst>
              <a:ext uri="{FF2B5EF4-FFF2-40B4-BE49-F238E27FC236}">
                <a16:creationId xmlns:a16="http://schemas.microsoft.com/office/drawing/2014/main" id="{BC0F2C8C-6A6E-F6C6-5572-6530ADC71096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7880095" y="3766013"/>
            <a:ext cx="516592" cy="108756"/>
          </a:xfrm>
          <a:prstGeom prst="rect">
            <a:avLst/>
          </a:prstGeom>
        </p:spPr>
      </p:pic>
      <p:pic>
        <p:nvPicPr>
          <p:cNvPr id="135" name="Picture 29">
            <a:extLst>
              <a:ext uri="{FF2B5EF4-FFF2-40B4-BE49-F238E27FC236}">
                <a16:creationId xmlns:a16="http://schemas.microsoft.com/office/drawing/2014/main" id="{BC0F2C8C-6A6E-F6C6-5572-6530ADC71096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 rot="5400000">
            <a:off x="9948463" y="5420221"/>
            <a:ext cx="516592" cy="108756"/>
          </a:xfrm>
          <a:prstGeom prst="rect">
            <a:avLst/>
          </a:prstGeom>
        </p:spPr>
      </p:pic>
      <p:pic>
        <p:nvPicPr>
          <p:cNvPr id="136" name="Picture 29">
            <a:extLst>
              <a:ext uri="{FF2B5EF4-FFF2-40B4-BE49-F238E27FC236}">
                <a16:creationId xmlns:a16="http://schemas.microsoft.com/office/drawing/2014/main" id="{BC0F2C8C-6A6E-F6C6-5572-6530ADC71096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12026900" y="7204598"/>
            <a:ext cx="516592" cy="10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44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5808500" y="-2147483648"/>
            <a:ext cx="2147483647" cy="2147483647"/>
            <a:chOff x="0" y="0"/>
            <a:chExt cx="0" cy="0"/>
          </a:xfrm>
        </p:grpSpPr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90FD473D-C10B-6899-7774-8AE64FC681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46355" y="4045"/>
            <a:ext cx="18195289" cy="10278909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6" name="TextBox 16"/>
          <p:cNvSpPr txBox="1"/>
          <p:nvPr/>
        </p:nvSpPr>
        <p:spPr>
          <a:xfrm>
            <a:off x="4387849" y="6286500"/>
            <a:ext cx="9525000" cy="190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800" b="0" i="0" u="none" strike="noStrike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지금부터 시작하세요</a:t>
            </a:r>
            <a:endParaRPr lang="ja-JP" sz="58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22800" y="2319618"/>
            <a:ext cx="8991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2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성공적인 투자의 여정</a:t>
            </a:r>
            <a:r>
              <a:rPr lang="en-US" altLang="ko-KR" sz="3200" spc="-200" dirty="0">
                <a:solidFill>
                  <a:srgbClr val="FFFFFF"/>
                </a:solidFill>
                <a:latin typeface="AppleSDGothicNeoSB00" panose="02000503000000000000" pitchFamily="2" charset="-127"/>
                <a:ea typeface="AppleSDGothicNeoSB00" panose="02000503000000000000" pitchFamily="2" charset="-127"/>
              </a:rPr>
              <a:t>,</a:t>
            </a:r>
            <a:endParaRPr lang="ja-JP" altLang="ko-KR" sz="3200" b="0" i="0" u="none" strike="noStrike" spc="-200" dirty="0">
              <a:solidFill>
                <a:srgbClr val="FFFFFF"/>
              </a:solidFill>
              <a:latin typeface="AppleSDGothicNeoSB00" panose="02000503000000000000" pitchFamily="2" charset="-127"/>
              <a:ea typeface="AppleSDGothicNeoSB00" panose="02000503000000000000" pitchFamily="2" charset="-127"/>
            </a:endParaRPr>
          </a:p>
        </p:txBody>
      </p:sp>
      <p:pic>
        <p:nvPicPr>
          <p:cNvPr id="3" name="그림 2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F105116-DE10-BBA1-545D-0F618EB88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732048"/>
            <a:ext cx="5105400" cy="2028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640</Words>
  <Application>Microsoft Office PowerPoint</Application>
  <PresentationFormat>사용자 지정</PresentationFormat>
  <Paragraphs>178</Paragraphs>
  <Slides>15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15</vt:i4>
      </vt:variant>
    </vt:vector>
  </HeadingPairs>
  <TitlesOfParts>
    <vt:vector size="29" baseType="lpstr">
      <vt:lpstr>AppleSDGothicNeoEB00</vt:lpstr>
      <vt:lpstr>Calibri</vt:lpstr>
      <vt:lpstr>Pretendard SemiBold</vt:lpstr>
      <vt:lpstr>Arial</vt:lpstr>
      <vt:lpstr>AppleSDGothicNeoSB00</vt:lpstr>
      <vt:lpstr>AppleSDGothicNeoB00</vt:lpstr>
      <vt:lpstr>AppleSDGothicNeoL00</vt:lpstr>
      <vt:lpstr>Pretendard Medium</vt:lpstr>
      <vt:lpstr>AppleSDGothicNeoH00</vt:lpstr>
      <vt:lpstr>Nasalization</vt:lpstr>
      <vt:lpstr>AppleSDGothicNeoM00</vt:lpstr>
      <vt:lpstr>Pretendard Light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22</cp:revision>
  <dcterms:created xsi:type="dcterms:W3CDTF">2006-08-16T00:00:00Z</dcterms:created>
  <dcterms:modified xsi:type="dcterms:W3CDTF">2024-11-27T00:20:45Z</dcterms:modified>
</cp:coreProperties>
</file>